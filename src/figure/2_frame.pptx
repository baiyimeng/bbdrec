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D09D"/>
    <a:srgbClr val="FEF5DC"/>
    <a:srgbClr val="E9C97A"/>
    <a:srgbClr val="FEFAEE"/>
    <a:srgbClr val="74AB5F"/>
    <a:srgbClr val="C9E1B8"/>
    <a:srgbClr val="C2ACD3"/>
    <a:srgbClr val="E7DEEF"/>
    <a:srgbClr val="4672AC"/>
    <a:srgbClr val="E5ED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3"/>
    <p:restoredTop sz="94694"/>
  </p:normalViewPr>
  <p:slideViewPr>
    <p:cSldViewPr snapToGrid="0">
      <p:cViewPr varScale="1">
        <p:scale>
          <a:sx n="121" d="100"/>
          <a:sy n="121" d="100"/>
        </p:scale>
        <p:origin x="1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4CD236-0F4A-684A-96D0-0959E2A3AD79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302D7D-367D-1E41-8C23-42716340F4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5023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02D7D-367D-1E41-8C23-42716340F402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80599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8C06C4-2E30-E404-9196-AAC6ED8A2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E28DB81-949B-B4B6-1CA5-E8BA405B6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94E037-A5C4-5608-3160-5032F64DC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6F1D-6922-DB43-A349-0B07919EF5E2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06046E-113B-643C-E9FC-4DB12D777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0A2F6F-BEE9-6A82-DB64-A41391D49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3CE40-B525-E044-9F48-73585517E2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9054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1F3BE2-8F41-C631-4D14-11FF23180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95C197-6D71-868A-8981-0CBFD8B1B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A4DE83-B3F2-632E-410F-73261BCC8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6F1D-6922-DB43-A349-0B07919EF5E2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86FCA7-A928-9A63-90FE-3344DD027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AC53E5-B1A4-138D-FE3C-D24D0C625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3CE40-B525-E044-9F48-73585517E2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6216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ED9DD0-5038-E584-0705-B5C2C106F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408374-8763-454D-96EE-CEA5048C3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99E215-50C5-9868-90DC-12F25241C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6F1D-6922-DB43-A349-0B07919EF5E2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9D50FB-C167-C661-8CE1-C8262573A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CFDBCB-BC14-110F-E5C8-C4C23D67A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3CE40-B525-E044-9F48-73585517E2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7094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9F48D1-DA9F-826F-8F2A-7034F0290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A7C791-EAFD-0F2E-9934-6A6CAECA13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ABF92E-F260-6398-8DC7-1F19AA4C7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5B0CD4-9B4E-30B7-4548-9509C08D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6F1D-6922-DB43-A349-0B07919EF5E2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14F848-EDC8-A7B6-B355-C2FDA4AFF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28D589-D7B9-354C-0DA5-BA2EAFA6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3CE40-B525-E044-9F48-73585517E2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658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2077E-CC19-DC18-863D-5B25473E5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464A90-CBFB-9AC3-021B-C1861441E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92B838-E53D-781A-0C3F-4506FA257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B8128F-AAFB-AA4D-CFC7-278095312F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158E887-8939-E9B9-4240-68760E7CAA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098C297-6285-848E-5B55-AD50CD10F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6F1D-6922-DB43-A349-0B07919EF5E2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B60AA06-266E-8FA1-AF5C-B3BCEC7D8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38A1C3-086A-9A1E-B879-0C70E075E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3CE40-B525-E044-9F48-73585517E2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9853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600399-BAB2-A5A0-8CC8-CB89570CD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D22C88F-18A5-CC70-080A-458FBF098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6F1D-6922-DB43-A349-0B07919EF5E2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3944818-AFC8-67EF-F589-414979EE1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32C46DD-DA62-0BE2-3AD8-000C170A8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3CE40-B525-E044-9F48-73585517E2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473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EF9DB8-DF1E-6ED0-8650-6EE9A2C11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6F1D-6922-DB43-A349-0B07919EF5E2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A5D8B17-ECEA-2FB1-5371-62FD35F06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234050-6AF7-0917-FE9D-ED5947201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3CE40-B525-E044-9F48-73585517E2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4071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F02BDF-E64A-28FF-DC50-3C4D74C7B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F56F3E-5ECF-FCCE-1630-796F15785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BD139E-4241-053D-3346-FA959DC3F3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8486E2-1BA0-7B38-B762-02C4A55E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6F1D-6922-DB43-A349-0B07919EF5E2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395AB5-6012-91CE-F8A1-DF1408A46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FE0EF0-8D62-D021-671B-DD4F66F4C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3CE40-B525-E044-9F48-73585517E2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3450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538963-76B9-922B-F035-D6EC907CE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CEAE759-DE42-60A6-8D6E-51B7AC3F92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E26368-BCB3-FC9E-91FE-A99636AFB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7DA705-DFA9-6E68-8BEB-54248EC9B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6F1D-6922-DB43-A349-0B07919EF5E2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D8C0E3-F785-936F-02BB-330756029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1D7D60-D83E-A20D-F9EA-A16E06C8B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3CE40-B525-E044-9F48-73585517E2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80165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DD95C5-9E05-5200-410F-EDC126CAD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AA73A3-289D-EBCA-43A4-A1763F9F3D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2BCBAC-40B8-9C34-8D10-D4ACB6900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6F1D-6922-DB43-A349-0B07919EF5E2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139AAA-4134-E090-D585-98EEA1F7E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11A53B-295D-7746-F014-B6C604F41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3CE40-B525-E044-9F48-73585517E2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1110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C4E01AC-EAEF-2A75-9A2C-40F48522CB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96CAEC-13BA-96A9-26DF-969666B9F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ED282E-29DE-8D9B-3F22-0446B6C9C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6F1D-6922-DB43-A349-0B07919EF5E2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D9DA63-4B96-E594-EDBC-AFD6BA128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F58D0B-605D-D67F-0228-ACD86E930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3CE40-B525-E044-9F48-73585517E2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2695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80B70E7-7954-2AFA-03E7-932030A1C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EDA956-5FBA-B1E1-2654-FC9CD2757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60E464-436E-786F-E2D0-9E90380AAF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416F1D-6922-DB43-A349-0B07919EF5E2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47EF10-04C0-66B7-4530-5B8BC7D80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32E50C-016B-DE83-2B51-C71823DA58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83CE40-B525-E044-9F48-73585517E2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4736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圆角矩形 228">
            <a:extLst>
              <a:ext uri="{FF2B5EF4-FFF2-40B4-BE49-F238E27FC236}">
                <a16:creationId xmlns:a16="http://schemas.microsoft.com/office/drawing/2014/main" id="{BAEC9861-0D0E-0396-C759-1D33F3BF1982}"/>
              </a:ext>
            </a:extLst>
          </p:cNvPr>
          <p:cNvSpPr/>
          <p:nvPr/>
        </p:nvSpPr>
        <p:spPr>
          <a:xfrm>
            <a:off x="1955305" y="120729"/>
            <a:ext cx="6647684" cy="4876817"/>
          </a:xfrm>
          <a:prstGeom prst="roundRect">
            <a:avLst>
              <a:gd name="adj" fmla="val 2739"/>
            </a:avLst>
          </a:prstGeom>
          <a:solidFill>
            <a:srgbClr val="F5F9FE"/>
          </a:solidFill>
          <a:ln>
            <a:solidFill>
              <a:srgbClr val="C1CF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2" name="圆角矩形 121">
            <a:extLst>
              <a:ext uri="{FF2B5EF4-FFF2-40B4-BE49-F238E27FC236}">
                <a16:creationId xmlns:a16="http://schemas.microsoft.com/office/drawing/2014/main" id="{6C7AEED5-6E95-6F1F-CE0B-8A59A2DCDC2F}"/>
              </a:ext>
            </a:extLst>
          </p:cNvPr>
          <p:cNvSpPr/>
          <p:nvPr/>
        </p:nvSpPr>
        <p:spPr>
          <a:xfrm>
            <a:off x="8718332" y="119680"/>
            <a:ext cx="3310758" cy="4876816"/>
          </a:xfrm>
          <a:prstGeom prst="roundRect">
            <a:avLst>
              <a:gd name="adj" fmla="val 2739"/>
            </a:avLst>
          </a:prstGeom>
          <a:solidFill>
            <a:srgbClr val="FFF7E7"/>
          </a:solidFill>
          <a:ln>
            <a:solidFill>
              <a:srgbClr val="E9D6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C0A3C974-66D4-414A-AB4F-5B640CDB9CD9}"/>
              </a:ext>
            </a:extLst>
          </p:cNvPr>
          <p:cNvSpPr/>
          <p:nvPr/>
        </p:nvSpPr>
        <p:spPr>
          <a:xfrm>
            <a:off x="7216466" y="1527409"/>
            <a:ext cx="1304316" cy="2079718"/>
          </a:xfrm>
          <a:prstGeom prst="roundRect">
            <a:avLst>
              <a:gd name="adj" fmla="val 2739"/>
            </a:avLst>
          </a:prstGeom>
          <a:solidFill>
            <a:srgbClr val="F9F9F9"/>
          </a:solidFill>
          <a:ln>
            <a:solidFill>
              <a:srgbClr val="BBBD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415DF60F-1FA7-5D89-62B0-CF90F1E5CF31}"/>
              </a:ext>
            </a:extLst>
          </p:cNvPr>
          <p:cNvSpPr/>
          <p:nvPr/>
        </p:nvSpPr>
        <p:spPr>
          <a:xfrm>
            <a:off x="162910" y="119680"/>
            <a:ext cx="1660854" cy="3025781"/>
          </a:xfrm>
          <a:prstGeom prst="roundRect">
            <a:avLst>
              <a:gd name="adj" fmla="val 2739"/>
            </a:avLst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D7C6B77-BB24-A44D-6137-73FAE9D8535C}"/>
              </a:ext>
            </a:extLst>
          </p:cNvPr>
          <p:cNvSpPr/>
          <p:nvPr/>
        </p:nvSpPr>
        <p:spPr>
          <a:xfrm>
            <a:off x="162910" y="5086783"/>
            <a:ext cx="11866180" cy="1080236"/>
          </a:xfrm>
          <a:prstGeom prst="roundRect">
            <a:avLst>
              <a:gd name="adj" fmla="val 2739"/>
            </a:avLst>
          </a:prstGeom>
          <a:solidFill>
            <a:srgbClr val="F8F8F7"/>
          </a:solidFill>
          <a:ln>
            <a:solidFill>
              <a:srgbClr val="B6D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4F1EEB82-8FF5-108B-DDA9-8CDCE16B6D41}"/>
              </a:ext>
            </a:extLst>
          </p:cNvPr>
          <p:cNvSpPr/>
          <p:nvPr/>
        </p:nvSpPr>
        <p:spPr>
          <a:xfrm>
            <a:off x="162910" y="6257305"/>
            <a:ext cx="11866180" cy="474571"/>
          </a:xfrm>
          <a:prstGeom prst="roundRect">
            <a:avLst>
              <a:gd name="adj" fmla="val 2739"/>
            </a:avLst>
          </a:prstGeom>
          <a:solidFill>
            <a:srgbClr val="FBFDFD"/>
          </a:solidFill>
          <a:ln>
            <a:solidFill>
              <a:srgbClr val="DCDA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20A5F1-1A37-5F40-979D-B2CBF2500963}"/>
              </a:ext>
            </a:extLst>
          </p:cNvPr>
          <p:cNvSpPr txBox="1"/>
          <p:nvPr/>
        </p:nvSpPr>
        <p:spPr>
          <a:xfrm>
            <a:off x="1947206" y="126124"/>
            <a:ext cx="66476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b="1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Brownian Bridge Architecture</a:t>
            </a:r>
            <a:endParaRPr kumimoji="1" lang="zh-CN" altLang="en-US" sz="1600" b="1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44C4C77-8361-3998-942E-C8ECFAA5A647}"/>
                  </a:ext>
                </a:extLst>
              </p:cNvPr>
              <p:cNvSpPr txBox="1"/>
              <p:nvPr/>
            </p:nvSpPr>
            <p:spPr>
              <a:xfrm>
                <a:off x="1868542" y="471122"/>
                <a:ext cx="35260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600" b="1" dirty="0">
                    <a:solidFill>
                      <a:srgbClr val="4672A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Forward Process (Item </a:t>
                </a:r>
                <a14:m>
                  <m:oMath xmlns:m="http://schemas.openxmlformats.org/officeDocument/2006/math">
                    <m:r>
                      <a:rPr kumimoji="1" lang="en-US" altLang="zh-CN" sz="1600" b="1" i="1" smtClean="0">
                        <a:solidFill>
                          <a:srgbClr val="4672A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kumimoji="1" lang="en-US" altLang="zh-CN" sz="1600" b="1" dirty="0">
                    <a:solidFill>
                      <a:srgbClr val="4672A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History)</a:t>
                </a:r>
                <a:endParaRPr kumimoji="1" lang="zh-CN" altLang="en-US" sz="1600" b="1" dirty="0">
                  <a:solidFill>
                    <a:srgbClr val="4672A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44C4C77-8361-3998-942E-C8ECFAA5A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8542" y="471122"/>
                <a:ext cx="3526001" cy="338554"/>
              </a:xfrm>
              <a:prstGeom prst="rect">
                <a:avLst/>
              </a:prstGeom>
              <a:blipFill>
                <a:blip r:embed="rId3"/>
                <a:stretch>
                  <a:fillRect t="-3571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83F1C4E-A5FC-36F7-D9BD-3888A5A41A36}"/>
                  </a:ext>
                </a:extLst>
              </p:cNvPr>
              <p:cNvSpPr txBox="1"/>
              <p:nvPr/>
            </p:nvSpPr>
            <p:spPr>
              <a:xfrm>
                <a:off x="2743418" y="737753"/>
                <a:ext cx="217016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kumimoji="1" lang="en-US" altLang="zh-CN" sz="1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15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CN" sz="1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kumimoji="1" lang="en-US" altLang="zh-CN" sz="15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kumimoji="1"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zh-CN" sz="1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15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b>
                      </m:sSub>
                      <m:r>
                        <a:rPr kumimoji="1" lang="en-US" altLang="zh-CN" sz="1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15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a:rPr kumimoji="1" lang="en-US" altLang="zh-CN" sz="1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83F1C4E-A5FC-36F7-D9BD-3888A5A41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418" y="737753"/>
                <a:ext cx="2170168" cy="323165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圆角矩形 12">
            <a:extLst>
              <a:ext uri="{FF2B5EF4-FFF2-40B4-BE49-F238E27FC236}">
                <a16:creationId xmlns:a16="http://schemas.microsoft.com/office/drawing/2014/main" id="{12FE047A-2400-E503-5E28-2A7CC334B349}"/>
              </a:ext>
            </a:extLst>
          </p:cNvPr>
          <p:cNvSpPr/>
          <p:nvPr/>
        </p:nvSpPr>
        <p:spPr>
          <a:xfrm>
            <a:off x="2076013" y="3429000"/>
            <a:ext cx="5073704" cy="1466569"/>
          </a:xfrm>
          <a:prstGeom prst="roundRect">
            <a:avLst>
              <a:gd name="adj" fmla="val 2739"/>
            </a:avLst>
          </a:prstGeom>
          <a:solidFill>
            <a:srgbClr val="F3EFF7"/>
          </a:solidFill>
          <a:ln>
            <a:solidFill>
              <a:srgbClr val="C3AB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F5C95AA-0B6D-DE8E-7A08-5E36142E97B5}"/>
              </a:ext>
            </a:extLst>
          </p:cNvPr>
          <p:cNvSpPr/>
          <p:nvPr/>
        </p:nvSpPr>
        <p:spPr>
          <a:xfrm>
            <a:off x="2109515" y="1872203"/>
            <a:ext cx="396000" cy="396000"/>
          </a:xfrm>
          <a:prstGeom prst="ellipse">
            <a:avLst/>
          </a:prstGeom>
          <a:solidFill>
            <a:srgbClr val="DCEAD2"/>
          </a:solidFill>
          <a:ln>
            <a:solidFill>
              <a:srgbClr val="A3C3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40F6F27-09C8-18AE-5F28-C5D0F72E12B0}"/>
                  </a:ext>
                </a:extLst>
              </p:cNvPr>
              <p:cNvSpPr txBox="1"/>
              <p:nvPr/>
            </p:nvSpPr>
            <p:spPr>
              <a:xfrm>
                <a:off x="1868542" y="2719315"/>
                <a:ext cx="35260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600" b="1" dirty="0">
                    <a:solidFill>
                      <a:srgbClr val="884EB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Reverse Process (History </a:t>
                </a:r>
                <a14:m>
                  <m:oMath xmlns:m="http://schemas.openxmlformats.org/officeDocument/2006/math">
                    <m:r>
                      <a:rPr kumimoji="1" lang="en-US" altLang="zh-CN" sz="1600" b="1" i="1" smtClean="0">
                        <a:solidFill>
                          <a:srgbClr val="884EB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kumimoji="1" lang="en-US" altLang="zh-CN" sz="1600" b="1" dirty="0">
                    <a:solidFill>
                      <a:srgbClr val="884EB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Item)</a:t>
                </a:r>
                <a:endParaRPr kumimoji="1" lang="zh-CN" altLang="en-US" sz="1600" b="1" dirty="0">
                  <a:solidFill>
                    <a:srgbClr val="884EB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40F6F27-09C8-18AE-5F28-C5D0F72E1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8542" y="2719315"/>
                <a:ext cx="3526001" cy="338554"/>
              </a:xfrm>
              <a:prstGeom prst="rect">
                <a:avLst/>
              </a:prstGeom>
              <a:blipFill>
                <a:blip r:embed="rId5"/>
                <a:stretch>
                  <a:fillRect t="-7407" b="-2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88617CD-493E-6049-773D-4BE7922C779E}"/>
                  </a:ext>
                </a:extLst>
              </p:cNvPr>
              <p:cNvSpPr txBox="1"/>
              <p:nvPr/>
            </p:nvSpPr>
            <p:spPr>
              <a:xfrm>
                <a:off x="2895761" y="2989519"/>
                <a:ext cx="2170223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sub>
                      </m:sSub>
                      <m:r>
                        <a:rPr kumimoji="1" lang="en-US" altLang="zh-CN" sz="1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15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kumimoji="1"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zh-CN" sz="1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kumimoji="1" lang="en-US" altLang="zh-CN" sz="15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CN" sz="1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15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b>
                      </m:sSub>
                      <m:r>
                        <a:rPr kumimoji="1" lang="en-US" altLang="zh-CN" sz="1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15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a:rPr kumimoji="1" lang="en-US" altLang="zh-CN" sz="1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88617CD-493E-6049-773D-4BE7922C7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761" y="2989519"/>
                <a:ext cx="2170223" cy="323165"/>
              </a:xfrm>
              <a:prstGeom prst="rect">
                <a:avLst/>
              </a:prstGeom>
              <a:blipFill>
                <a:blip r:embed="rId6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315CADA5-CEA0-F886-1B8F-5AA942C4E27B}"/>
              </a:ext>
            </a:extLst>
          </p:cNvPr>
          <p:cNvCxnSpPr>
            <a:cxnSpLocks/>
          </p:cNvCxnSpPr>
          <p:nvPr/>
        </p:nvCxnSpPr>
        <p:spPr>
          <a:xfrm flipH="1">
            <a:off x="2505515" y="2603701"/>
            <a:ext cx="4019876" cy="0"/>
          </a:xfrm>
          <a:prstGeom prst="straightConnector1">
            <a:avLst/>
          </a:prstGeom>
          <a:ln w="22225">
            <a:solidFill>
              <a:srgbClr val="C3ABD6"/>
            </a:solidFill>
            <a:prstDash val="dash"/>
            <a:headEnd type="none" w="med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7FC48CA6-3E01-AC48-B329-737A9BAA08B2}"/>
              </a:ext>
            </a:extLst>
          </p:cNvPr>
          <p:cNvSpPr/>
          <p:nvPr/>
        </p:nvSpPr>
        <p:spPr>
          <a:xfrm>
            <a:off x="3235990" y="1866943"/>
            <a:ext cx="396000" cy="396000"/>
          </a:xfrm>
          <a:prstGeom prst="ellipse">
            <a:avLst/>
          </a:prstGeom>
          <a:solidFill>
            <a:srgbClr val="DCEAD2"/>
          </a:solidFill>
          <a:ln>
            <a:solidFill>
              <a:srgbClr val="A3C3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ED8A7332-2474-73B9-A134-559650271127}"/>
              </a:ext>
            </a:extLst>
          </p:cNvPr>
          <p:cNvSpPr/>
          <p:nvPr/>
        </p:nvSpPr>
        <p:spPr>
          <a:xfrm>
            <a:off x="4408900" y="1871994"/>
            <a:ext cx="396000" cy="396000"/>
          </a:xfrm>
          <a:prstGeom prst="ellipse">
            <a:avLst/>
          </a:prstGeom>
          <a:solidFill>
            <a:srgbClr val="FEEEBF"/>
          </a:solidFill>
          <a:ln>
            <a:solidFill>
              <a:srgbClr val="D9B5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7F5BFE16-0DB8-4400-12B8-9524AFD84227}"/>
              </a:ext>
            </a:extLst>
          </p:cNvPr>
          <p:cNvSpPr/>
          <p:nvPr/>
        </p:nvSpPr>
        <p:spPr>
          <a:xfrm>
            <a:off x="5537906" y="1871994"/>
            <a:ext cx="396000" cy="396000"/>
          </a:xfrm>
          <a:prstGeom prst="ellipse">
            <a:avLst/>
          </a:prstGeom>
          <a:solidFill>
            <a:srgbClr val="FFD9B2"/>
          </a:solidFill>
          <a:ln>
            <a:solidFill>
              <a:srgbClr val="B26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A85D1A02-CF5B-1A6F-FC31-7003DAC2DBD3}"/>
              </a:ext>
            </a:extLst>
          </p:cNvPr>
          <p:cNvSpPr/>
          <p:nvPr/>
        </p:nvSpPr>
        <p:spPr>
          <a:xfrm>
            <a:off x="6593924" y="1871994"/>
            <a:ext cx="396000" cy="396000"/>
          </a:xfrm>
          <a:prstGeom prst="ellipse">
            <a:avLst/>
          </a:prstGeom>
          <a:solidFill>
            <a:srgbClr val="B6CDFD"/>
          </a:solidFill>
          <a:ln>
            <a:solidFill>
              <a:srgbClr val="0060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91C4A205-F955-43CC-EE11-412B9B9D318C}"/>
                  </a:ext>
                </a:extLst>
              </p:cNvPr>
              <p:cNvSpPr txBox="1"/>
              <p:nvPr/>
            </p:nvSpPr>
            <p:spPr>
              <a:xfrm>
                <a:off x="1969305" y="1527205"/>
                <a:ext cx="676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kumimoji="1"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kumimoji="1"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91C4A205-F955-43CC-EE11-412B9B9D3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9305" y="1527205"/>
                <a:ext cx="67641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2E7879FD-644B-6C77-76FD-2D08EE984867}"/>
                  </a:ext>
                </a:extLst>
              </p:cNvPr>
              <p:cNvSpPr txBox="1"/>
              <p:nvPr/>
            </p:nvSpPr>
            <p:spPr>
              <a:xfrm>
                <a:off x="3113905" y="1527963"/>
                <a:ext cx="676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kumimoji="1"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kumimoji="1"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2E7879FD-644B-6C77-76FD-2D08EE984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905" y="1527963"/>
                <a:ext cx="676419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FE23014-FF13-DC64-5DB3-D9671448D3AC}"/>
                  </a:ext>
                </a:extLst>
              </p:cNvPr>
              <p:cNvSpPr txBox="1"/>
              <p:nvPr/>
            </p:nvSpPr>
            <p:spPr>
              <a:xfrm>
                <a:off x="4286569" y="1527204"/>
                <a:ext cx="676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kumimoji="1"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</m:oMath>
                  </m:oMathPara>
                </a14:m>
                <a:endParaRPr kumimoji="1"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FE23014-FF13-DC64-5DB3-D9671448D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569" y="1527204"/>
                <a:ext cx="676419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B087E9C-6BA9-C798-2DE6-9DF6BA3A6E92}"/>
                  </a:ext>
                </a:extLst>
              </p:cNvPr>
              <p:cNvSpPr txBox="1"/>
              <p:nvPr/>
            </p:nvSpPr>
            <p:spPr>
              <a:xfrm>
                <a:off x="5235303" y="1527726"/>
                <a:ext cx="10081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kumimoji="1"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kumimoji="1"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kumimoji="1"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B087E9C-6BA9-C798-2DE6-9DF6BA3A6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5303" y="1527726"/>
                <a:ext cx="1008100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D2588B4F-3C1F-67B1-7456-D21128482396}"/>
                  </a:ext>
                </a:extLst>
              </p:cNvPr>
              <p:cNvSpPr txBox="1"/>
              <p:nvPr/>
            </p:nvSpPr>
            <p:spPr>
              <a:xfrm>
                <a:off x="6439269" y="1522275"/>
                <a:ext cx="73135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kumimoji="1"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</m:oMath>
                  </m:oMathPara>
                </a14:m>
                <a:endParaRPr kumimoji="1"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D2588B4F-3C1F-67B1-7456-D21128482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269" y="1522275"/>
                <a:ext cx="731359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AC3AD901-BEF2-2D11-635E-E8F988C132A3}"/>
                  </a:ext>
                </a:extLst>
              </p:cNvPr>
              <p:cNvSpPr txBox="1"/>
              <p:nvPr/>
            </p:nvSpPr>
            <p:spPr>
              <a:xfrm>
                <a:off x="1969305" y="2275650"/>
                <a:ext cx="676419" cy="291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b>
                          <m:r>
                            <a:rPr kumimoji="1"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sub>
                      </m:sSub>
                    </m:oMath>
                  </m:oMathPara>
                </a14:m>
                <a:endParaRPr kumimoji="1" lang="zh-CN" altLang="en-US" sz="1200" b="1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AC3AD901-BEF2-2D11-635E-E8F988C13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9305" y="2275650"/>
                <a:ext cx="676419" cy="29161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B80F0DD8-175B-C68B-D1B7-86239104542F}"/>
                  </a:ext>
                </a:extLst>
              </p:cNvPr>
              <p:cNvSpPr txBox="1"/>
              <p:nvPr/>
            </p:nvSpPr>
            <p:spPr>
              <a:xfrm>
                <a:off x="6478439" y="2277553"/>
                <a:ext cx="676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200" b="0" i="1" smtClean="0">
                          <a:solidFill>
                            <a:srgbClr val="0060B5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1200" b="1" i="1" smtClean="0">
                              <a:solidFill>
                                <a:srgbClr val="0060B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 smtClean="0">
                              <a:solidFill>
                                <a:srgbClr val="0060B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b>
                          <m:r>
                            <a:rPr kumimoji="1" lang="en-US" altLang="zh-CN" sz="1200" b="1" i="1" smtClean="0">
                              <a:solidFill>
                                <a:srgbClr val="0060B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kumimoji="1" lang="zh-CN" altLang="en-US" sz="1200" b="1" dirty="0">
                  <a:solidFill>
                    <a:srgbClr val="0060B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B80F0DD8-175B-C68B-D1B7-862391045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8439" y="2277553"/>
                <a:ext cx="676419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3D74B7D2-E616-5243-200E-7DAC695D4BCC}"/>
              </a:ext>
            </a:extLst>
          </p:cNvPr>
          <p:cNvCxnSpPr>
            <a:cxnSpLocks/>
          </p:cNvCxnSpPr>
          <p:nvPr/>
        </p:nvCxnSpPr>
        <p:spPr>
          <a:xfrm>
            <a:off x="2623816" y="2064943"/>
            <a:ext cx="49008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F888B3C7-B35B-B2C6-2585-08610201DBDD}"/>
              </a:ext>
            </a:extLst>
          </p:cNvPr>
          <p:cNvCxnSpPr>
            <a:cxnSpLocks/>
          </p:cNvCxnSpPr>
          <p:nvPr/>
        </p:nvCxnSpPr>
        <p:spPr>
          <a:xfrm>
            <a:off x="6035302" y="2064943"/>
            <a:ext cx="49008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4E4E8B16-FF01-27A8-A274-0BD29F71A213}"/>
              </a:ext>
            </a:extLst>
          </p:cNvPr>
          <p:cNvCxnSpPr>
            <a:cxnSpLocks/>
          </p:cNvCxnSpPr>
          <p:nvPr/>
        </p:nvCxnSpPr>
        <p:spPr>
          <a:xfrm>
            <a:off x="3688470" y="2066174"/>
            <a:ext cx="24504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BCC94891-314C-C939-31DD-485F1A77B63D}"/>
              </a:ext>
            </a:extLst>
          </p:cNvPr>
          <p:cNvCxnSpPr>
            <a:cxnSpLocks/>
          </p:cNvCxnSpPr>
          <p:nvPr/>
        </p:nvCxnSpPr>
        <p:spPr>
          <a:xfrm>
            <a:off x="4126002" y="2064943"/>
            <a:ext cx="24504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E6F4C0CB-854C-A4B1-60E0-852952AE8854}"/>
              </a:ext>
            </a:extLst>
          </p:cNvPr>
          <p:cNvCxnSpPr>
            <a:cxnSpLocks/>
          </p:cNvCxnSpPr>
          <p:nvPr/>
        </p:nvCxnSpPr>
        <p:spPr>
          <a:xfrm>
            <a:off x="4831229" y="2066790"/>
            <a:ext cx="24504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EB93D483-E2A7-DA8B-B492-4C355CC984E5}"/>
              </a:ext>
            </a:extLst>
          </p:cNvPr>
          <p:cNvCxnSpPr>
            <a:cxnSpLocks/>
          </p:cNvCxnSpPr>
          <p:nvPr/>
        </p:nvCxnSpPr>
        <p:spPr>
          <a:xfrm>
            <a:off x="5268761" y="2065559"/>
            <a:ext cx="24504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81197AE6-FDDC-CB63-955E-905B23090607}"/>
              </a:ext>
            </a:extLst>
          </p:cNvPr>
          <p:cNvSpPr txBox="1"/>
          <p:nvPr/>
        </p:nvSpPr>
        <p:spPr>
          <a:xfrm>
            <a:off x="3842767" y="1840636"/>
            <a:ext cx="519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…</a:t>
            </a:r>
            <a:endParaRPr kumimoji="1" lang="zh-CN" altLang="en-US" b="1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48CD058-F866-6773-98A5-FAAABDA6D65D}"/>
              </a:ext>
            </a:extLst>
          </p:cNvPr>
          <p:cNvSpPr txBox="1"/>
          <p:nvPr/>
        </p:nvSpPr>
        <p:spPr>
          <a:xfrm>
            <a:off x="4992521" y="1834620"/>
            <a:ext cx="519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…</a:t>
            </a:r>
            <a:endParaRPr kumimoji="1" lang="zh-CN" altLang="en-US" b="1" dirty="0"/>
          </a:p>
        </p:txBody>
      </p:sp>
      <p:sp>
        <p:nvSpPr>
          <p:cNvPr id="50" name="任意形状 49">
            <a:extLst>
              <a:ext uri="{FF2B5EF4-FFF2-40B4-BE49-F238E27FC236}">
                <a16:creationId xmlns:a16="http://schemas.microsoft.com/office/drawing/2014/main" id="{4F800862-ABDF-9453-FDDD-18F7C786F22B}"/>
              </a:ext>
            </a:extLst>
          </p:cNvPr>
          <p:cNvSpPr/>
          <p:nvPr/>
        </p:nvSpPr>
        <p:spPr>
          <a:xfrm>
            <a:off x="2364509" y="1239645"/>
            <a:ext cx="4433455" cy="284355"/>
          </a:xfrm>
          <a:custGeom>
            <a:avLst/>
            <a:gdLst>
              <a:gd name="connsiteX0" fmla="*/ 0 w 4433455"/>
              <a:gd name="connsiteY0" fmla="*/ 397225 h 397225"/>
              <a:gd name="connsiteX1" fmla="*/ 2318327 w 4433455"/>
              <a:gd name="connsiteY1" fmla="*/ 61 h 397225"/>
              <a:gd name="connsiteX2" fmla="*/ 4433455 w 4433455"/>
              <a:gd name="connsiteY2" fmla="*/ 369516 h 397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33455" h="397225">
                <a:moveTo>
                  <a:pt x="0" y="397225"/>
                </a:moveTo>
                <a:cubicBezTo>
                  <a:pt x="789709" y="200952"/>
                  <a:pt x="1579418" y="4679"/>
                  <a:pt x="2318327" y="61"/>
                </a:cubicBezTo>
                <a:cubicBezTo>
                  <a:pt x="3057236" y="-4557"/>
                  <a:pt x="4042449" y="250983"/>
                  <a:pt x="4433455" y="369516"/>
                </a:cubicBezTo>
              </a:path>
            </a:pathLst>
          </a:custGeom>
          <a:noFill/>
          <a:ln>
            <a:solidFill>
              <a:srgbClr val="4672AC"/>
            </a:solidFill>
            <a:prstDash val="dash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488AC693-3882-C535-8ADC-400D738FFBC4}"/>
                  </a:ext>
                </a:extLst>
              </p:cNvPr>
              <p:cNvSpPr txBox="1"/>
              <p:nvPr/>
            </p:nvSpPr>
            <p:spPr>
              <a:xfrm>
                <a:off x="3127016" y="1906452"/>
                <a:ext cx="676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488AC693-3882-C535-8ADC-400D738FF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7016" y="1906452"/>
                <a:ext cx="676419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43DA65D7-D955-BC2D-9DF2-878D4FD1CD02}"/>
                  </a:ext>
                </a:extLst>
              </p:cNvPr>
              <p:cNvSpPr txBox="1"/>
              <p:nvPr/>
            </p:nvSpPr>
            <p:spPr>
              <a:xfrm>
                <a:off x="5434058" y="1926953"/>
                <a:ext cx="676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𝑻</m:t>
                          </m:r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43DA65D7-D955-BC2D-9DF2-878D4FD1C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058" y="1926953"/>
                <a:ext cx="676419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8991F34D-3195-C7AA-98F2-E374EFAFF5CB}"/>
              </a:ext>
            </a:extLst>
          </p:cNvPr>
          <p:cNvCxnSpPr>
            <a:cxnSpLocks/>
          </p:cNvCxnSpPr>
          <p:nvPr/>
        </p:nvCxnSpPr>
        <p:spPr>
          <a:xfrm flipV="1">
            <a:off x="4640298" y="1256707"/>
            <a:ext cx="2045" cy="36059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B4422518-3221-5718-BD43-221A0E6DC1A4}"/>
              </a:ext>
            </a:extLst>
          </p:cNvPr>
          <p:cNvSpPr txBox="1"/>
          <p:nvPr/>
        </p:nvSpPr>
        <p:spPr>
          <a:xfrm>
            <a:off x="3916101" y="972208"/>
            <a:ext cx="15179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rgbClr val="4672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Variance</a:t>
            </a:r>
            <a:endParaRPr kumimoji="1" lang="zh-CN" altLang="en-US" sz="1200" b="1" dirty="0">
              <a:solidFill>
                <a:srgbClr val="4672A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AC08CDAB-1A4A-70A0-3A21-9D163F79A8A2}"/>
                  </a:ext>
                </a:extLst>
              </p:cNvPr>
              <p:cNvSpPr txBox="1"/>
              <p:nvPr/>
            </p:nvSpPr>
            <p:spPr>
              <a:xfrm>
                <a:off x="4804900" y="963262"/>
                <a:ext cx="21701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𝛿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kumimoji="1"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kumimoji="1"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(1−</m:t>
                      </m:r>
                      <m:sSub>
                        <m:sSubPr>
                          <m:ctrlPr>
                            <a:rPr kumimoji="1"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AC08CDAB-1A4A-70A0-3A21-9D163F79A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900" y="963262"/>
                <a:ext cx="2170168" cy="276999"/>
              </a:xfrm>
              <a:prstGeom prst="rect">
                <a:avLst/>
              </a:prstGeom>
              <a:blipFill>
                <a:blip r:embed="rId16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CE4DE42B-D12C-9B85-FD1B-0D255A8A22C0}"/>
                  </a:ext>
                </a:extLst>
              </p:cNvPr>
              <p:cNvSpPr txBox="1"/>
              <p:nvPr/>
            </p:nvSpPr>
            <p:spPr>
              <a:xfrm>
                <a:off x="2895761" y="3429000"/>
                <a:ext cx="35260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Denoiser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𝒈</m:t>
                        </m:r>
                      </m:e>
                      <m:sub>
                        <m:r>
                          <a:rPr kumimoji="1"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sub>
                    </m:sSub>
                  </m:oMath>
                </a14:m>
                <a:endParaRPr kumimoji="1" lang="zh-CN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CE4DE42B-D12C-9B85-FD1B-0D255A8A2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761" y="3429000"/>
                <a:ext cx="3526001" cy="338554"/>
              </a:xfrm>
              <a:prstGeom prst="rect">
                <a:avLst/>
              </a:prstGeom>
              <a:blipFill>
                <a:blip r:embed="rId17"/>
                <a:stretch>
                  <a:fillRect t="-7407" b="-2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矩形 67">
            <a:extLst>
              <a:ext uri="{FF2B5EF4-FFF2-40B4-BE49-F238E27FC236}">
                <a16:creationId xmlns:a16="http://schemas.microsoft.com/office/drawing/2014/main" id="{DF087BC0-8FAD-11A1-8AC4-DEA3AE6B4516}"/>
              </a:ext>
            </a:extLst>
          </p:cNvPr>
          <p:cNvSpPr/>
          <p:nvPr/>
        </p:nvSpPr>
        <p:spPr>
          <a:xfrm>
            <a:off x="2217954" y="4097366"/>
            <a:ext cx="144000" cy="144000"/>
          </a:xfrm>
          <a:prstGeom prst="rect">
            <a:avLst/>
          </a:prstGeom>
          <a:solidFill>
            <a:srgbClr val="C0D2FC"/>
          </a:solidFill>
          <a:ln>
            <a:solidFill>
              <a:srgbClr val="0060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AAE3AC6B-6583-F427-6E76-B240A3D722BA}"/>
              </a:ext>
            </a:extLst>
          </p:cNvPr>
          <p:cNvSpPr/>
          <p:nvPr/>
        </p:nvSpPr>
        <p:spPr>
          <a:xfrm>
            <a:off x="2361954" y="4097366"/>
            <a:ext cx="144000" cy="144000"/>
          </a:xfrm>
          <a:prstGeom prst="rect">
            <a:avLst/>
          </a:prstGeom>
          <a:solidFill>
            <a:srgbClr val="C0D2FC"/>
          </a:solidFill>
          <a:ln>
            <a:solidFill>
              <a:srgbClr val="0060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9E775B4C-0D7A-5AF1-A6A7-FA0360FEB3BF}"/>
              </a:ext>
            </a:extLst>
          </p:cNvPr>
          <p:cNvSpPr/>
          <p:nvPr/>
        </p:nvSpPr>
        <p:spPr>
          <a:xfrm>
            <a:off x="2505954" y="4097366"/>
            <a:ext cx="144000" cy="144000"/>
          </a:xfrm>
          <a:prstGeom prst="rect">
            <a:avLst/>
          </a:prstGeom>
          <a:solidFill>
            <a:srgbClr val="C0D2FC"/>
          </a:solidFill>
          <a:ln>
            <a:solidFill>
              <a:srgbClr val="0060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CB10417-4D15-18B5-ADD9-A3EE58BDCE97}"/>
              </a:ext>
            </a:extLst>
          </p:cNvPr>
          <p:cNvSpPr/>
          <p:nvPr/>
        </p:nvSpPr>
        <p:spPr>
          <a:xfrm>
            <a:off x="2649954" y="4097366"/>
            <a:ext cx="144000" cy="144000"/>
          </a:xfrm>
          <a:prstGeom prst="rect">
            <a:avLst/>
          </a:prstGeom>
          <a:solidFill>
            <a:srgbClr val="C0D2FC"/>
          </a:solidFill>
          <a:ln>
            <a:solidFill>
              <a:srgbClr val="0060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368B0C0D-0C9B-56AD-4AFA-9AE79E7F1CAC}"/>
              </a:ext>
            </a:extLst>
          </p:cNvPr>
          <p:cNvSpPr/>
          <p:nvPr/>
        </p:nvSpPr>
        <p:spPr>
          <a:xfrm>
            <a:off x="3451657" y="4097366"/>
            <a:ext cx="144000" cy="144000"/>
          </a:xfrm>
          <a:prstGeom prst="rect">
            <a:avLst/>
          </a:prstGeom>
          <a:solidFill>
            <a:srgbClr val="FFEDC3"/>
          </a:solidFill>
          <a:ln>
            <a:solidFill>
              <a:srgbClr val="DAB1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EEB9F833-6331-D76C-B9F0-1631F0344820}"/>
              </a:ext>
            </a:extLst>
          </p:cNvPr>
          <p:cNvSpPr/>
          <p:nvPr/>
        </p:nvSpPr>
        <p:spPr>
          <a:xfrm>
            <a:off x="3595657" y="4097366"/>
            <a:ext cx="144000" cy="144000"/>
          </a:xfrm>
          <a:prstGeom prst="rect">
            <a:avLst/>
          </a:prstGeom>
          <a:solidFill>
            <a:srgbClr val="FFEDC3"/>
          </a:solidFill>
          <a:ln>
            <a:solidFill>
              <a:srgbClr val="DAB1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394D172B-C2F0-DD50-97BD-F43C7DE36FD5}"/>
              </a:ext>
            </a:extLst>
          </p:cNvPr>
          <p:cNvSpPr/>
          <p:nvPr/>
        </p:nvSpPr>
        <p:spPr>
          <a:xfrm>
            <a:off x="3739657" y="4097366"/>
            <a:ext cx="144000" cy="144000"/>
          </a:xfrm>
          <a:prstGeom prst="rect">
            <a:avLst/>
          </a:prstGeom>
          <a:solidFill>
            <a:srgbClr val="FFEDC3"/>
          </a:solidFill>
          <a:ln>
            <a:solidFill>
              <a:srgbClr val="DAB1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EB65E8C-9895-F8DB-659F-F0AFDA7695B1}"/>
              </a:ext>
            </a:extLst>
          </p:cNvPr>
          <p:cNvSpPr/>
          <p:nvPr/>
        </p:nvSpPr>
        <p:spPr>
          <a:xfrm>
            <a:off x="3883657" y="4097366"/>
            <a:ext cx="144000" cy="144000"/>
          </a:xfrm>
          <a:prstGeom prst="rect">
            <a:avLst/>
          </a:prstGeom>
          <a:solidFill>
            <a:srgbClr val="FFEDC3"/>
          </a:solidFill>
          <a:ln>
            <a:solidFill>
              <a:srgbClr val="DAB1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AF8F5279-87E0-65D6-ED09-FFB65F1F8A57}"/>
              </a:ext>
            </a:extLst>
          </p:cNvPr>
          <p:cNvSpPr/>
          <p:nvPr/>
        </p:nvSpPr>
        <p:spPr>
          <a:xfrm>
            <a:off x="4367627" y="4097366"/>
            <a:ext cx="144000" cy="144000"/>
          </a:xfrm>
          <a:prstGeom prst="rect">
            <a:avLst/>
          </a:prstGeom>
          <a:solidFill>
            <a:srgbClr val="AE92C0"/>
          </a:solidFill>
          <a:ln>
            <a:solidFill>
              <a:srgbClr val="8B6A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1021AAEB-EDAE-DE8D-947E-1AEF96111D02}"/>
              </a:ext>
            </a:extLst>
          </p:cNvPr>
          <p:cNvSpPr/>
          <p:nvPr/>
        </p:nvSpPr>
        <p:spPr>
          <a:xfrm>
            <a:off x="4511627" y="4097366"/>
            <a:ext cx="144000" cy="144000"/>
          </a:xfrm>
          <a:prstGeom prst="rect">
            <a:avLst/>
          </a:prstGeom>
          <a:solidFill>
            <a:srgbClr val="AE92C0"/>
          </a:solidFill>
          <a:ln>
            <a:solidFill>
              <a:srgbClr val="8B6A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2DAC210-DEB8-BCBB-2BCA-A30D2BCF7B07}"/>
              </a:ext>
            </a:extLst>
          </p:cNvPr>
          <p:cNvSpPr/>
          <p:nvPr/>
        </p:nvSpPr>
        <p:spPr>
          <a:xfrm>
            <a:off x="4655627" y="4097366"/>
            <a:ext cx="144000" cy="144000"/>
          </a:xfrm>
          <a:prstGeom prst="rect">
            <a:avLst/>
          </a:prstGeom>
          <a:solidFill>
            <a:srgbClr val="AE92C0"/>
          </a:solidFill>
          <a:ln>
            <a:solidFill>
              <a:srgbClr val="8B6A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9572B9BA-A075-B87F-EB47-FAF9132757D9}"/>
              </a:ext>
            </a:extLst>
          </p:cNvPr>
          <p:cNvSpPr/>
          <p:nvPr/>
        </p:nvSpPr>
        <p:spPr>
          <a:xfrm>
            <a:off x="4799627" y="4097366"/>
            <a:ext cx="144000" cy="144000"/>
          </a:xfrm>
          <a:prstGeom prst="rect">
            <a:avLst/>
          </a:prstGeom>
          <a:solidFill>
            <a:srgbClr val="AE92C0"/>
          </a:solidFill>
          <a:ln>
            <a:solidFill>
              <a:srgbClr val="8B6A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68F2DF0B-3412-79A8-FCC5-3F420C560FBF}"/>
              </a:ext>
            </a:extLst>
          </p:cNvPr>
          <p:cNvSpPr/>
          <p:nvPr/>
        </p:nvSpPr>
        <p:spPr>
          <a:xfrm>
            <a:off x="6390525" y="4097366"/>
            <a:ext cx="144000" cy="144000"/>
          </a:xfrm>
          <a:prstGeom prst="rect">
            <a:avLst/>
          </a:prstGeom>
          <a:solidFill>
            <a:srgbClr val="C9E1B8"/>
          </a:solidFill>
          <a:ln>
            <a:solidFill>
              <a:srgbClr val="74A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05B07F82-04DD-9D4C-015D-150FB5154104}"/>
              </a:ext>
            </a:extLst>
          </p:cNvPr>
          <p:cNvSpPr/>
          <p:nvPr/>
        </p:nvSpPr>
        <p:spPr>
          <a:xfrm>
            <a:off x="6534525" y="4097366"/>
            <a:ext cx="144000" cy="144000"/>
          </a:xfrm>
          <a:prstGeom prst="rect">
            <a:avLst/>
          </a:prstGeom>
          <a:solidFill>
            <a:srgbClr val="C9E1B8"/>
          </a:solidFill>
          <a:ln>
            <a:solidFill>
              <a:srgbClr val="74A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79CEDB97-EBAD-C450-DD99-1420C3F5E83A}"/>
              </a:ext>
            </a:extLst>
          </p:cNvPr>
          <p:cNvSpPr/>
          <p:nvPr/>
        </p:nvSpPr>
        <p:spPr>
          <a:xfrm>
            <a:off x="6678525" y="4097366"/>
            <a:ext cx="144000" cy="144000"/>
          </a:xfrm>
          <a:prstGeom prst="rect">
            <a:avLst/>
          </a:prstGeom>
          <a:solidFill>
            <a:srgbClr val="C9E1B8"/>
          </a:solidFill>
          <a:ln>
            <a:solidFill>
              <a:srgbClr val="74A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F42B4713-DFCA-1ED0-8FD8-75373739BA0B}"/>
              </a:ext>
            </a:extLst>
          </p:cNvPr>
          <p:cNvSpPr/>
          <p:nvPr/>
        </p:nvSpPr>
        <p:spPr>
          <a:xfrm>
            <a:off x="6822525" y="4097366"/>
            <a:ext cx="144000" cy="144000"/>
          </a:xfrm>
          <a:prstGeom prst="rect">
            <a:avLst/>
          </a:prstGeom>
          <a:solidFill>
            <a:srgbClr val="C9E1B8"/>
          </a:solidFill>
          <a:ln>
            <a:solidFill>
              <a:srgbClr val="74A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CCCA0EB9-08D6-F97B-34D6-EEA9E82960BA}"/>
              </a:ext>
            </a:extLst>
          </p:cNvPr>
          <p:cNvSpPr txBox="1"/>
          <p:nvPr/>
        </p:nvSpPr>
        <p:spPr>
          <a:xfrm>
            <a:off x="2800894" y="3984700"/>
            <a:ext cx="40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+</a:t>
            </a:r>
            <a:endParaRPr kumimoji="1" lang="zh-CN" altLang="en-US" b="1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44787DAB-FF68-113E-EDE7-B35A221E24A4}"/>
              </a:ext>
            </a:extLst>
          </p:cNvPr>
          <p:cNvSpPr txBox="1"/>
          <p:nvPr/>
        </p:nvSpPr>
        <p:spPr>
          <a:xfrm>
            <a:off x="4027657" y="3984700"/>
            <a:ext cx="40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+</a:t>
            </a:r>
            <a:endParaRPr kumimoji="1"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FEEBDACA-C137-BF4C-B829-B1C074DFC9D1}"/>
                  </a:ext>
                </a:extLst>
              </p:cNvPr>
              <p:cNvSpPr txBox="1"/>
              <p:nvPr/>
            </p:nvSpPr>
            <p:spPr>
              <a:xfrm>
                <a:off x="2213171" y="3724202"/>
                <a:ext cx="676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b="1" i="1" smtClean="0">
                              <a:solidFill>
                                <a:srgbClr val="0060B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 smtClean="0">
                              <a:solidFill>
                                <a:srgbClr val="0060B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b>
                          <m:r>
                            <a:rPr kumimoji="1" lang="en-US" altLang="zh-CN" sz="1200" b="1" i="1" smtClean="0">
                              <a:solidFill>
                                <a:srgbClr val="0060B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kumimoji="1" lang="zh-CN" altLang="en-US" sz="1200" b="1" dirty="0">
                  <a:solidFill>
                    <a:srgbClr val="0060B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FEEBDACA-C137-BF4C-B829-B1C074DFC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171" y="3724202"/>
                <a:ext cx="676419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12FC5B50-55F8-9DB4-AA42-E2358928A822}"/>
                  </a:ext>
                </a:extLst>
              </p:cNvPr>
              <p:cNvSpPr txBox="1"/>
              <p:nvPr/>
            </p:nvSpPr>
            <p:spPr>
              <a:xfrm>
                <a:off x="2981810" y="3984700"/>
                <a:ext cx="4054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12FC5B50-55F8-9DB4-AA42-E2358928A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810" y="3984700"/>
                <a:ext cx="405440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0C07A4B5-7AAC-75FF-DC5D-1F4E5DEEA3A9}"/>
                  </a:ext>
                </a:extLst>
              </p:cNvPr>
              <p:cNvSpPr txBox="1"/>
              <p:nvPr/>
            </p:nvSpPr>
            <p:spPr>
              <a:xfrm>
                <a:off x="3426511" y="3724202"/>
                <a:ext cx="676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0C07A4B5-7AAC-75FF-DC5D-1F4E5DEEA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511" y="3724202"/>
                <a:ext cx="676419" cy="2769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1404BE06-0831-CADA-534E-AC93B4CF73C2}"/>
                  </a:ext>
                </a:extLst>
              </p:cNvPr>
              <p:cNvSpPr txBox="1"/>
              <p:nvPr/>
            </p:nvSpPr>
            <p:spPr>
              <a:xfrm>
                <a:off x="4336401" y="3724202"/>
                <a:ext cx="676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b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1404BE06-0831-CADA-534E-AC93B4CF7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401" y="3724202"/>
                <a:ext cx="676419" cy="2769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589FEED8-1B66-D8A0-95C4-7AE0AA82E307}"/>
                  </a:ext>
                </a:extLst>
              </p:cNvPr>
              <p:cNvSpPr txBox="1"/>
              <p:nvPr/>
            </p:nvSpPr>
            <p:spPr>
              <a:xfrm>
                <a:off x="6380512" y="3724202"/>
                <a:ext cx="676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CN" sz="12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12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589FEED8-1B66-D8A0-95C4-7AE0AA82E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512" y="3724202"/>
                <a:ext cx="676419" cy="27699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直线箭头连接符 92">
            <a:extLst>
              <a:ext uri="{FF2B5EF4-FFF2-40B4-BE49-F238E27FC236}">
                <a16:creationId xmlns:a16="http://schemas.microsoft.com/office/drawing/2014/main" id="{F83947FA-305E-54E3-AB6E-27E4ACDAECEB}"/>
              </a:ext>
            </a:extLst>
          </p:cNvPr>
          <p:cNvCxnSpPr>
            <a:cxnSpLocks/>
          </p:cNvCxnSpPr>
          <p:nvPr/>
        </p:nvCxnSpPr>
        <p:spPr>
          <a:xfrm>
            <a:off x="5116576" y="4159939"/>
            <a:ext cx="2817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E9B53FEA-82D5-2E59-2AD8-0DDF0A73F93D}"/>
              </a:ext>
            </a:extLst>
          </p:cNvPr>
          <p:cNvCxnSpPr>
            <a:cxnSpLocks/>
          </p:cNvCxnSpPr>
          <p:nvPr/>
        </p:nvCxnSpPr>
        <p:spPr>
          <a:xfrm>
            <a:off x="6052634" y="4159939"/>
            <a:ext cx="2817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F08EF049-12F5-8567-A37B-939C595F21B8}"/>
              </a:ext>
            </a:extLst>
          </p:cNvPr>
          <p:cNvSpPr txBox="1"/>
          <p:nvPr/>
        </p:nvSpPr>
        <p:spPr>
          <a:xfrm>
            <a:off x="1977085" y="4319895"/>
            <a:ext cx="1382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 Representation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859A3564-AEF3-50F4-A6B7-7A3E4951280F}"/>
              </a:ext>
            </a:extLst>
          </p:cNvPr>
          <p:cNvSpPr txBox="1"/>
          <p:nvPr/>
        </p:nvSpPr>
        <p:spPr>
          <a:xfrm>
            <a:off x="3329776" y="4302206"/>
            <a:ext cx="817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Noisy State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EC29F578-6C6E-C5BC-2DFD-C09C9A8FA6BF}"/>
              </a:ext>
            </a:extLst>
          </p:cNvPr>
          <p:cNvSpPr txBox="1"/>
          <p:nvPr/>
        </p:nvSpPr>
        <p:spPr>
          <a:xfrm>
            <a:off x="4119561" y="4287235"/>
            <a:ext cx="1019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Timestep Embedding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7FD2755A-5674-1C59-1B1A-B99A7B6673D5}"/>
              </a:ext>
            </a:extLst>
          </p:cNvPr>
          <p:cNvSpPr txBox="1"/>
          <p:nvPr/>
        </p:nvSpPr>
        <p:spPr>
          <a:xfrm>
            <a:off x="6123878" y="4372332"/>
            <a:ext cx="10193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53A78AE2-E135-78E6-4A20-BA61FDFA078B}"/>
              </a:ext>
            </a:extLst>
          </p:cNvPr>
          <p:cNvSpPr txBox="1"/>
          <p:nvPr/>
        </p:nvSpPr>
        <p:spPr>
          <a:xfrm>
            <a:off x="8718332" y="111837"/>
            <a:ext cx="3310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b="1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Progressive Learning Strategy</a:t>
            </a:r>
            <a:endParaRPr kumimoji="1" lang="zh-CN" altLang="en-US" sz="1600" b="1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BB7E5DD3-B453-68DD-3CD4-730961BC33FD}"/>
              </a:ext>
            </a:extLst>
          </p:cNvPr>
          <p:cNvSpPr/>
          <p:nvPr/>
        </p:nvSpPr>
        <p:spPr>
          <a:xfrm>
            <a:off x="7297517" y="1652357"/>
            <a:ext cx="251999" cy="251999"/>
          </a:xfrm>
          <a:prstGeom prst="ellipse">
            <a:avLst/>
          </a:prstGeom>
          <a:solidFill>
            <a:srgbClr val="DCEAD2"/>
          </a:solidFill>
          <a:ln>
            <a:solidFill>
              <a:srgbClr val="A3C3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F900430B-8992-83A4-96E5-BB7D4E51A833}"/>
                  </a:ext>
                </a:extLst>
              </p:cNvPr>
              <p:cNvSpPr txBox="1"/>
              <p:nvPr/>
            </p:nvSpPr>
            <p:spPr>
              <a:xfrm>
                <a:off x="1991768" y="1912926"/>
                <a:ext cx="676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F900430B-8992-83A4-96E5-BB7D4E51A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768" y="1912926"/>
                <a:ext cx="676419" cy="2769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844BADEF-26A0-4A12-E85A-6E93508BEE49}"/>
                  </a:ext>
                </a:extLst>
              </p:cNvPr>
              <p:cNvSpPr txBox="1"/>
              <p:nvPr/>
            </p:nvSpPr>
            <p:spPr>
              <a:xfrm>
                <a:off x="7113470" y="1613339"/>
                <a:ext cx="676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844BADEF-26A0-4A12-E85A-6E93508BE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470" y="1613339"/>
                <a:ext cx="676419" cy="2769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文本框 104">
            <a:extLst>
              <a:ext uri="{FF2B5EF4-FFF2-40B4-BE49-F238E27FC236}">
                <a16:creationId xmlns:a16="http://schemas.microsoft.com/office/drawing/2014/main" id="{09826541-93F0-633D-C6C6-192A2A4513CB}"/>
              </a:ext>
            </a:extLst>
          </p:cNvPr>
          <p:cNvSpPr txBox="1"/>
          <p:nvPr/>
        </p:nvSpPr>
        <p:spPr>
          <a:xfrm>
            <a:off x="7438253" y="1612866"/>
            <a:ext cx="11128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Item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2E10CF36-56CF-2C30-DF92-66B125130F36}"/>
              </a:ext>
            </a:extLst>
          </p:cNvPr>
          <p:cNvSpPr/>
          <p:nvPr/>
        </p:nvSpPr>
        <p:spPr>
          <a:xfrm>
            <a:off x="7297517" y="2039598"/>
            <a:ext cx="251999" cy="251999"/>
          </a:xfrm>
          <a:prstGeom prst="ellipse">
            <a:avLst/>
          </a:prstGeom>
          <a:solidFill>
            <a:srgbClr val="FEEEBF"/>
          </a:solidFill>
          <a:ln>
            <a:solidFill>
              <a:srgbClr val="D9B5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A0A64FD7-F0DA-4010-746D-A28C383C8DCC}"/>
              </a:ext>
            </a:extLst>
          </p:cNvPr>
          <p:cNvSpPr txBox="1"/>
          <p:nvPr/>
        </p:nvSpPr>
        <p:spPr>
          <a:xfrm>
            <a:off x="7453622" y="1928883"/>
            <a:ext cx="1112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Intermediate</a:t>
            </a:r>
            <a:b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A853AF76-2647-8046-1E48-3468273A9043}"/>
                  </a:ext>
                </a:extLst>
              </p:cNvPr>
              <p:cNvSpPr txBox="1"/>
              <p:nvPr/>
            </p:nvSpPr>
            <p:spPr>
              <a:xfrm>
                <a:off x="4296913" y="1919440"/>
                <a:ext cx="676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A853AF76-2647-8046-1E48-3468273A9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6913" y="1919440"/>
                <a:ext cx="676419" cy="27699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DF3AA72B-CDD9-3DA9-9E93-95F6BB870510}"/>
                  </a:ext>
                </a:extLst>
              </p:cNvPr>
              <p:cNvSpPr txBox="1"/>
              <p:nvPr/>
            </p:nvSpPr>
            <p:spPr>
              <a:xfrm>
                <a:off x="7113469" y="2008715"/>
                <a:ext cx="676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DF3AA72B-CDD9-3DA9-9E93-95F6BB870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469" y="2008715"/>
                <a:ext cx="676419" cy="27699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椭圆 109">
            <a:extLst>
              <a:ext uri="{FF2B5EF4-FFF2-40B4-BE49-F238E27FC236}">
                <a16:creationId xmlns:a16="http://schemas.microsoft.com/office/drawing/2014/main" id="{F442270E-E789-9BFE-D716-02B9C43DD7D2}"/>
              </a:ext>
            </a:extLst>
          </p:cNvPr>
          <p:cNvSpPr/>
          <p:nvPr/>
        </p:nvSpPr>
        <p:spPr>
          <a:xfrm>
            <a:off x="7297516" y="2409612"/>
            <a:ext cx="251999" cy="251999"/>
          </a:xfrm>
          <a:prstGeom prst="ellipse">
            <a:avLst/>
          </a:prstGeom>
          <a:solidFill>
            <a:srgbClr val="B6CDFD"/>
          </a:solidFill>
          <a:ln>
            <a:solidFill>
              <a:srgbClr val="0060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12756F40-668E-0B84-D8F7-CEF14EFE70A3}"/>
                  </a:ext>
                </a:extLst>
              </p:cNvPr>
              <p:cNvSpPr txBox="1"/>
              <p:nvPr/>
            </p:nvSpPr>
            <p:spPr>
              <a:xfrm>
                <a:off x="6494209" y="1918824"/>
                <a:ext cx="676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12756F40-668E-0B84-D8F7-CEF14EFE7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209" y="1918824"/>
                <a:ext cx="676419" cy="27699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9CD281F5-A557-2A77-B775-4D70A2B6ABC3}"/>
                  </a:ext>
                </a:extLst>
              </p:cNvPr>
              <p:cNvSpPr txBox="1"/>
              <p:nvPr/>
            </p:nvSpPr>
            <p:spPr>
              <a:xfrm>
                <a:off x="7113469" y="2391215"/>
                <a:ext cx="676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9CD281F5-A557-2A77-B775-4D70A2B6A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469" y="2391215"/>
                <a:ext cx="676419" cy="27699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文本框 112">
            <a:extLst>
              <a:ext uri="{FF2B5EF4-FFF2-40B4-BE49-F238E27FC236}">
                <a16:creationId xmlns:a16="http://schemas.microsoft.com/office/drawing/2014/main" id="{9A578CC5-B5DD-0D6D-1F33-B21EB5638AC0}"/>
              </a:ext>
            </a:extLst>
          </p:cNvPr>
          <p:cNvSpPr txBox="1"/>
          <p:nvPr/>
        </p:nvSpPr>
        <p:spPr>
          <a:xfrm>
            <a:off x="7487103" y="2392192"/>
            <a:ext cx="11128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History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4" name="直线箭头连接符 113">
            <a:extLst>
              <a:ext uri="{FF2B5EF4-FFF2-40B4-BE49-F238E27FC236}">
                <a16:creationId xmlns:a16="http://schemas.microsoft.com/office/drawing/2014/main" id="{6C655EB3-51B7-F868-E401-967C214B5457}"/>
              </a:ext>
            </a:extLst>
          </p:cNvPr>
          <p:cNvCxnSpPr>
            <a:cxnSpLocks/>
          </p:cNvCxnSpPr>
          <p:nvPr/>
        </p:nvCxnSpPr>
        <p:spPr>
          <a:xfrm flipH="1">
            <a:off x="7283296" y="3322301"/>
            <a:ext cx="251999" cy="0"/>
          </a:xfrm>
          <a:prstGeom prst="straightConnector1">
            <a:avLst/>
          </a:prstGeom>
          <a:ln w="22225">
            <a:solidFill>
              <a:srgbClr val="C3ABD6"/>
            </a:solidFill>
            <a:prstDash val="dash"/>
            <a:headEnd type="none" w="med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61BEF0ED-BF0E-8F66-0AD6-5D49B6926DD7}"/>
              </a:ext>
            </a:extLst>
          </p:cNvPr>
          <p:cNvCxnSpPr>
            <a:cxnSpLocks/>
          </p:cNvCxnSpPr>
          <p:nvPr/>
        </p:nvCxnSpPr>
        <p:spPr>
          <a:xfrm>
            <a:off x="7288726" y="2891914"/>
            <a:ext cx="302785" cy="0"/>
          </a:xfrm>
          <a:prstGeom prst="straightConnector1">
            <a:avLst/>
          </a:prstGeom>
          <a:ln w="22225">
            <a:solidFill>
              <a:srgbClr val="4672AC"/>
            </a:solidFill>
            <a:prstDash val="dash"/>
            <a:headEnd type="none" w="med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文本框 118">
            <a:extLst>
              <a:ext uri="{FF2B5EF4-FFF2-40B4-BE49-F238E27FC236}">
                <a16:creationId xmlns:a16="http://schemas.microsoft.com/office/drawing/2014/main" id="{295624BA-6A2F-0285-6FE6-79535CD653CB}"/>
              </a:ext>
            </a:extLst>
          </p:cNvPr>
          <p:cNvSpPr txBox="1"/>
          <p:nvPr/>
        </p:nvSpPr>
        <p:spPr>
          <a:xfrm>
            <a:off x="7540725" y="2683796"/>
            <a:ext cx="1112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</a:p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(noising)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D1A01176-C498-09E6-E788-94FED4A95D84}"/>
              </a:ext>
            </a:extLst>
          </p:cNvPr>
          <p:cNvSpPr txBox="1"/>
          <p:nvPr/>
        </p:nvSpPr>
        <p:spPr>
          <a:xfrm>
            <a:off x="7532626" y="3145461"/>
            <a:ext cx="1112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Reverse</a:t>
            </a:r>
          </a:p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(denoising)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BD0A9F99-90A9-5DBE-F65E-0C9A486463AE}"/>
              </a:ext>
            </a:extLst>
          </p:cNvPr>
          <p:cNvSpPr txBox="1"/>
          <p:nvPr/>
        </p:nvSpPr>
        <p:spPr>
          <a:xfrm>
            <a:off x="157881" y="126124"/>
            <a:ext cx="1660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b="1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kumimoji="1" lang="zh-CN" altLang="en-US" sz="1600" b="1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C42DBC7F-A362-4F7C-3632-8D8F072BD34B}"/>
                  </a:ext>
                </a:extLst>
              </p:cNvPr>
              <p:cNvSpPr txBox="1"/>
              <p:nvPr/>
            </p:nvSpPr>
            <p:spPr>
              <a:xfrm>
                <a:off x="167939" y="460754"/>
                <a:ext cx="16608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200" dirty="0">
                    <a:solidFill>
                      <a:srgbClr val="00005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User History </a:t>
                </a:r>
                <a14:m>
                  <m:oMath xmlns:m="http://schemas.openxmlformats.org/officeDocument/2006/math">
                    <m:r>
                      <a:rPr kumimoji="1" lang="en-US" altLang="zh-CN" sz="1200" b="0" i="1" smtClean="0">
                        <a:solidFill>
                          <a:srgbClr val="00005B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endParaRPr kumimoji="1" lang="zh-CN" altLang="en-US" sz="1200" dirty="0">
                  <a:solidFill>
                    <a:srgbClr val="00005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C42DBC7F-A362-4F7C-3632-8D8F072BD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39" y="460754"/>
                <a:ext cx="1660854" cy="276999"/>
              </a:xfrm>
              <a:prstGeom prst="rect">
                <a:avLst/>
              </a:prstGeom>
              <a:blipFill>
                <a:blip r:embed="rId29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9FA808CD-5495-5B50-80F5-32BCBB744452}"/>
              </a:ext>
            </a:extLst>
          </p:cNvPr>
          <p:cNvSpPr/>
          <p:nvPr/>
        </p:nvSpPr>
        <p:spPr>
          <a:xfrm>
            <a:off x="401146" y="765262"/>
            <a:ext cx="197963" cy="198000"/>
          </a:xfrm>
          <a:prstGeom prst="roundRect">
            <a:avLst/>
          </a:prstGeom>
          <a:solidFill>
            <a:srgbClr val="E5ED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6" name="圆角矩形 125">
            <a:extLst>
              <a:ext uri="{FF2B5EF4-FFF2-40B4-BE49-F238E27FC236}">
                <a16:creationId xmlns:a16="http://schemas.microsoft.com/office/drawing/2014/main" id="{F1B9BE04-3D61-74F5-B664-51E0DAB0C26B}"/>
              </a:ext>
            </a:extLst>
          </p:cNvPr>
          <p:cNvSpPr/>
          <p:nvPr/>
        </p:nvSpPr>
        <p:spPr>
          <a:xfrm>
            <a:off x="703551" y="765262"/>
            <a:ext cx="197963" cy="198000"/>
          </a:xfrm>
          <a:prstGeom prst="roundRect">
            <a:avLst/>
          </a:prstGeom>
          <a:solidFill>
            <a:srgbClr val="E5ED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6F3DC505-B833-91B6-1D2B-A68DB8AF48BA}"/>
              </a:ext>
            </a:extLst>
          </p:cNvPr>
          <p:cNvSpPr/>
          <p:nvPr/>
        </p:nvSpPr>
        <p:spPr>
          <a:xfrm>
            <a:off x="1421986" y="765262"/>
            <a:ext cx="197963" cy="198000"/>
          </a:xfrm>
          <a:prstGeom prst="roundRect">
            <a:avLst/>
          </a:prstGeom>
          <a:solidFill>
            <a:srgbClr val="E5ED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46ED3889-D92F-B61D-43A9-4C92A1CAE28A}"/>
              </a:ext>
            </a:extLst>
          </p:cNvPr>
          <p:cNvSpPr txBox="1"/>
          <p:nvPr/>
        </p:nvSpPr>
        <p:spPr>
          <a:xfrm>
            <a:off x="950793" y="679596"/>
            <a:ext cx="519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…</a:t>
            </a:r>
            <a:endParaRPr kumimoji="1" lang="zh-CN" altLang="en-US" b="1" dirty="0"/>
          </a:p>
        </p:txBody>
      </p:sp>
      <p:sp>
        <p:nvSpPr>
          <p:cNvPr id="129" name="下箭头 128">
            <a:extLst>
              <a:ext uri="{FF2B5EF4-FFF2-40B4-BE49-F238E27FC236}">
                <a16:creationId xmlns:a16="http://schemas.microsoft.com/office/drawing/2014/main" id="{B8BC70A2-9E45-C527-C216-34D7D6FC6AA9}"/>
              </a:ext>
            </a:extLst>
          </p:cNvPr>
          <p:cNvSpPr/>
          <p:nvPr/>
        </p:nvSpPr>
        <p:spPr>
          <a:xfrm>
            <a:off x="916508" y="1001985"/>
            <a:ext cx="163715" cy="207779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4" name="圆角矩形 133">
            <a:extLst>
              <a:ext uri="{FF2B5EF4-FFF2-40B4-BE49-F238E27FC236}">
                <a16:creationId xmlns:a16="http://schemas.microsoft.com/office/drawing/2014/main" id="{6E03C024-D40D-2948-4638-381B9208CBFD}"/>
              </a:ext>
            </a:extLst>
          </p:cNvPr>
          <p:cNvSpPr/>
          <p:nvPr/>
        </p:nvSpPr>
        <p:spPr>
          <a:xfrm>
            <a:off x="5442574" y="3800621"/>
            <a:ext cx="670619" cy="670413"/>
          </a:xfrm>
          <a:prstGeom prst="roundRect">
            <a:avLst>
              <a:gd name="adj" fmla="val 6670"/>
            </a:avLst>
          </a:prstGeom>
          <a:solidFill>
            <a:srgbClr val="E7DEEF"/>
          </a:solidFill>
          <a:ln>
            <a:solidFill>
              <a:srgbClr val="C2AC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2" name="圆角矩形 131">
            <a:extLst>
              <a:ext uri="{FF2B5EF4-FFF2-40B4-BE49-F238E27FC236}">
                <a16:creationId xmlns:a16="http://schemas.microsoft.com/office/drawing/2014/main" id="{EBA18D16-73B9-E117-6AA0-84B1E31A4605}"/>
              </a:ext>
            </a:extLst>
          </p:cNvPr>
          <p:cNvSpPr/>
          <p:nvPr/>
        </p:nvSpPr>
        <p:spPr>
          <a:xfrm>
            <a:off x="252096" y="1261062"/>
            <a:ext cx="1529221" cy="1024652"/>
          </a:xfrm>
          <a:prstGeom prst="roundRect">
            <a:avLst>
              <a:gd name="adj" fmla="val 6670"/>
            </a:avLst>
          </a:prstGeom>
          <a:solidFill>
            <a:srgbClr val="E5EDF8"/>
          </a:solidFill>
          <a:ln>
            <a:solidFill>
              <a:srgbClr val="4672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30" name="图片 129">
            <a:extLst>
              <a:ext uri="{FF2B5EF4-FFF2-40B4-BE49-F238E27FC236}">
                <a16:creationId xmlns:a16="http://schemas.microsoft.com/office/drawing/2014/main" id="{4B41A8DC-4D4F-AAC3-7645-181A79D64ACC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57798" y="1717627"/>
            <a:ext cx="559016" cy="5590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38BBA9F3-698B-9BA3-AC27-AECE43E06023}"/>
                  </a:ext>
                </a:extLst>
              </p:cNvPr>
              <p:cNvSpPr txBox="1"/>
              <p:nvPr/>
            </p:nvSpPr>
            <p:spPr>
              <a:xfrm>
                <a:off x="203847" y="1249207"/>
                <a:ext cx="1660854" cy="478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200" dirty="0">
                    <a:solidFill>
                      <a:srgbClr val="00005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 Encoder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i="1" smtClean="0">
                            <a:solidFill>
                              <a:srgbClr val="00005B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0" i="1" smtClean="0">
                            <a:solidFill>
                              <a:srgbClr val="00005B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kumimoji="1" lang="en-US" altLang="zh-CN" sz="1200" b="0" i="1" smtClean="0">
                            <a:solidFill>
                              <a:srgbClr val="00005B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sub>
                    </m:sSub>
                  </m:oMath>
                </a14:m>
                <a:endParaRPr kumimoji="1" lang="en-US" altLang="zh-CN" sz="1200" dirty="0">
                  <a:solidFill>
                    <a:srgbClr val="00005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kumimoji="1" lang="en-US" altLang="zh-CN" sz="1200" dirty="0">
                    <a:solidFill>
                      <a:srgbClr val="00005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(Transformer)</a:t>
                </a:r>
                <a:endParaRPr kumimoji="1" lang="zh-CN" altLang="en-US" sz="1200" dirty="0">
                  <a:solidFill>
                    <a:srgbClr val="00005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38BBA9F3-698B-9BA3-AC27-AECE43E06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847" y="1249207"/>
                <a:ext cx="1660854" cy="478272"/>
              </a:xfrm>
              <a:prstGeom prst="rect">
                <a:avLst/>
              </a:prstGeom>
              <a:blipFill>
                <a:blip r:embed="rId31"/>
                <a:stretch>
                  <a:fillRect t="-2632"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" name="图片 91">
            <a:extLst>
              <a:ext uri="{FF2B5EF4-FFF2-40B4-BE49-F238E27FC236}">
                <a16:creationId xmlns:a16="http://schemas.microsoft.com/office/drawing/2014/main" id="{8F23DAE2-135B-FEE1-800D-26079F02A360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500736" y="3861630"/>
            <a:ext cx="559016" cy="559016"/>
          </a:xfrm>
          <a:prstGeom prst="rect">
            <a:avLst/>
          </a:prstGeom>
        </p:spPr>
      </p:pic>
      <p:sp>
        <p:nvSpPr>
          <p:cNvPr id="136" name="下箭头 135">
            <a:extLst>
              <a:ext uri="{FF2B5EF4-FFF2-40B4-BE49-F238E27FC236}">
                <a16:creationId xmlns:a16="http://schemas.microsoft.com/office/drawing/2014/main" id="{F927BA7F-E079-5BE6-8E50-D86028EA333A}"/>
              </a:ext>
            </a:extLst>
          </p:cNvPr>
          <p:cNvSpPr/>
          <p:nvPr/>
        </p:nvSpPr>
        <p:spPr>
          <a:xfrm>
            <a:off x="905791" y="2328674"/>
            <a:ext cx="163715" cy="207779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47D7933D-CB16-17AF-2E12-21D9FD08EC27}"/>
              </a:ext>
            </a:extLst>
          </p:cNvPr>
          <p:cNvSpPr txBox="1"/>
          <p:nvPr/>
        </p:nvSpPr>
        <p:spPr>
          <a:xfrm>
            <a:off x="194141" y="2465201"/>
            <a:ext cx="16141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 Representation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39ED2D9B-9708-75E9-167B-460BE3DD1154}"/>
              </a:ext>
            </a:extLst>
          </p:cNvPr>
          <p:cNvSpPr/>
          <p:nvPr/>
        </p:nvSpPr>
        <p:spPr>
          <a:xfrm>
            <a:off x="703551" y="2885410"/>
            <a:ext cx="144000" cy="144000"/>
          </a:xfrm>
          <a:prstGeom prst="rect">
            <a:avLst/>
          </a:prstGeom>
          <a:solidFill>
            <a:srgbClr val="C0D2FC"/>
          </a:solidFill>
          <a:ln>
            <a:solidFill>
              <a:srgbClr val="0060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B7D28D03-37FA-4974-61AF-1601777CAF93}"/>
              </a:ext>
            </a:extLst>
          </p:cNvPr>
          <p:cNvSpPr/>
          <p:nvPr/>
        </p:nvSpPr>
        <p:spPr>
          <a:xfrm>
            <a:off x="847551" y="2885410"/>
            <a:ext cx="144000" cy="144000"/>
          </a:xfrm>
          <a:prstGeom prst="rect">
            <a:avLst/>
          </a:prstGeom>
          <a:solidFill>
            <a:srgbClr val="C0D2FC"/>
          </a:solidFill>
          <a:ln>
            <a:solidFill>
              <a:srgbClr val="0060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36E2C5D6-3746-DDA0-F813-38E7466C550F}"/>
              </a:ext>
            </a:extLst>
          </p:cNvPr>
          <p:cNvSpPr/>
          <p:nvPr/>
        </p:nvSpPr>
        <p:spPr>
          <a:xfrm>
            <a:off x="991551" y="2885410"/>
            <a:ext cx="144000" cy="144000"/>
          </a:xfrm>
          <a:prstGeom prst="rect">
            <a:avLst/>
          </a:prstGeom>
          <a:solidFill>
            <a:srgbClr val="C0D2FC"/>
          </a:solidFill>
          <a:ln>
            <a:solidFill>
              <a:srgbClr val="0060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0AAE9176-E939-FBE8-8AAC-754BF3CC0A8E}"/>
              </a:ext>
            </a:extLst>
          </p:cNvPr>
          <p:cNvSpPr/>
          <p:nvPr/>
        </p:nvSpPr>
        <p:spPr>
          <a:xfrm>
            <a:off x="1135551" y="2885410"/>
            <a:ext cx="144000" cy="144000"/>
          </a:xfrm>
          <a:prstGeom prst="rect">
            <a:avLst/>
          </a:prstGeom>
          <a:solidFill>
            <a:srgbClr val="C0D2FC"/>
          </a:solidFill>
          <a:ln>
            <a:solidFill>
              <a:srgbClr val="0060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6" name="圆角矩形 165">
            <a:extLst>
              <a:ext uri="{FF2B5EF4-FFF2-40B4-BE49-F238E27FC236}">
                <a16:creationId xmlns:a16="http://schemas.microsoft.com/office/drawing/2014/main" id="{A2033794-4A57-21E1-2C57-000516F2FEDA}"/>
              </a:ext>
            </a:extLst>
          </p:cNvPr>
          <p:cNvSpPr/>
          <p:nvPr/>
        </p:nvSpPr>
        <p:spPr>
          <a:xfrm>
            <a:off x="173081" y="3205487"/>
            <a:ext cx="1660854" cy="1791010"/>
          </a:xfrm>
          <a:prstGeom prst="roundRect">
            <a:avLst>
              <a:gd name="adj" fmla="val 2739"/>
            </a:avLst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C795F35A-411F-5543-D3DA-C66525AB94CD}"/>
                  </a:ext>
                </a:extLst>
              </p:cNvPr>
              <p:cNvSpPr txBox="1"/>
              <p:nvPr/>
            </p:nvSpPr>
            <p:spPr>
              <a:xfrm>
                <a:off x="188224" y="3235747"/>
                <a:ext cx="16608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200" dirty="0">
                    <a:solidFill>
                      <a:srgbClr val="00005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Target Item </a:t>
                </a:r>
                <a14:m>
                  <m:oMath xmlns:m="http://schemas.openxmlformats.org/officeDocument/2006/math">
                    <m:r>
                      <a:rPr kumimoji="1" lang="en-US" altLang="zh-CN" sz="1200" b="0" i="1" smtClean="0">
                        <a:solidFill>
                          <a:srgbClr val="00005B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kumimoji="1" lang="en-US" altLang="zh-CN" sz="1200" dirty="0">
                  <a:solidFill>
                    <a:srgbClr val="00005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C795F35A-411F-5543-D3DA-C66525AB9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224" y="3235747"/>
                <a:ext cx="1660854" cy="276999"/>
              </a:xfrm>
              <a:prstGeom prst="rect">
                <a:avLst/>
              </a:prstGeom>
              <a:blipFill>
                <a:blip r:embed="rId32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圆角矩形 167">
            <a:extLst>
              <a:ext uri="{FF2B5EF4-FFF2-40B4-BE49-F238E27FC236}">
                <a16:creationId xmlns:a16="http://schemas.microsoft.com/office/drawing/2014/main" id="{52888786-5F19-4F21-7FBF-57C3B74BEF2B}"/>
              </a:ext>
            </a:extLst>
          </p:cNvPr>
          <p:cNvSpPr/>
          <p:nvPr/>
        </p:nvSpPr>
        <p:spPr>
          <a:xfrm>
            <a:off x="888668" y="3598277"/>
            <a:ext cx="197963" cy="198000"/>
          </a:xfrm>
          <a:prstGeom prst="roundRect">
            <a:avLst/>
          </a:prstGeom>
          <a:solidFill>
            <a:srgbClr val="C9E1B8"/>
          </a:solidFill>
          <a:ln>
            <a:solidFill>
              <a:srgbClr val="74A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9" name="下箭头 168">
            <a:extLst>
              <a:ext uri="{FF2B5EF4-FFF2-40B4-BE49-F238E27FC236}">
                <a16:creationId xmlns:a16="http://schemas.microsoft.com/office/drawing/2014/main" id="{4A8B14EE-D1A9-AEF7-9AB6-60279B09DD80}"/>
              </a:ext>
            </a:extLst>
          </p:cNvPr>
          <p:cNvSpPr/>
          <p:nvPr/>
        </p:nvSpPr>
        <p:spPr>
          <a:xfrm>
            <a:off x="910074" y="3953331"/>
            <a:ext cx="163715" cy="207779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06E0A54A-2C2F-2888-3074-44E3B821B2DE}"/>
              </a:ext>
            </a:extLst>
          </p:cNvPr>
          <p:cNvSpPr/>
          <p:nvPr/>
        </p:nvSpPr>
        <p:spPr>
          <a:xfrm>
            <a:off x="688588" y="4751569"/>
            <a:ext cx="144000" cy="144000"/>
          </a:xfrm>
          <a:prstGeom prst="rect">
            <a:avLst/>
          </a:prstGeom>
          <a:solidFill>
            <a:srgbClr val="C9E1B8"/>
          </a:solidFill>
          <a:ln>
            <a:solidFill>
              <a:srgbClr val="74A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5D02257A-AEAC-6F3B-8825-1BBEC0A796B7}"/>
              </a:ext>
            </a:extLst>
          </p:cNvPr>
          <p:cNvSpPr/>
          <p:nvPr/>
        </p:nvSpPr>
        <p:spPr>
          <a:xfrm>
            <a:off x="832588" y="4751569"/>
            <a:ext cx="144000" cy="144000"/>
          </a:xfrm>
          <a:prstGeom prst="rect">
            <a:avLst/>
          </a:prstGeom>
          <a:solidFill>
            <a:srgbClr val="C9E1B8"/>
          </a:solidFill>
          <a:ln>
            <a:solidFill>
              <a:srgbClr val="74A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02F0C7EB-530B-3C57-1ED7-2F6F76295858}"/>
              </a:ext>
            </a:extLst>
          </p:cNvPr>
          <p:cNvSpPr/>
          <p:nvPr/>
        </p:nvSpPr>
        <p:spPr>
          <a:xfrm>
            <a:off x="976588" y="4751569"/>
            <a:ext cx="144000" cy="144000"/>
          </a:xfrm>
          <a:prstGeom prst="rect">
            <a:avLst/>
          </a:prstGeom>
          <a:solidFill>
            <a:srgbClr val="C9E1B8"/>
          </a:solidFill>
          <a:ln>
            <a:solidFill>
              <a:srgbClr val="74A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68C9D391-6484-31CC-C491-DAC117241930}"/>
              </a:ext>
            </a:extLst>
          </p:cNvPr>
          <p:cNvSpPr/>
          <p:nvPr/>
        </p:nvSpPr>
        <p:spPr>
          <a:xfrm>
            <a:off x="1120588" y="4751569"/>
            <a:ext cx="144000" cy="144000"/>
          </a:xfrm>
          <a:prstGeom prst="rect">
            <a:avLst/>
          </a:prstGeom>
          <a:solidFill>
            <a:srgbClr val="C9E1B8"/>
          </a:solidFill>
          <a:ln>
            <a:solidFill>
              <a:srgbClr val="74A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CAE39825-2F21-8602-C4F9-D5BA28377467}"/>
              </a:ext>
            </a:extLst>
          </p:cNvPr>
          <p:cNvSpPr txBox="1"/>
          <p:nvPr/>
        </p:nvSpPr>
        <p:spPr>
          <a:xfrm>
            <a:off x="222577" y="4222004"/>
            <a:ext cx="16141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 Representation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FA4E80CA-D837-6C47-7243-6F242FD09FCF}"/>
                  </a:ext>
                </a:extLst>
              </p:cNvPr>
              <p:cNvSpPr txBox="1"/>
              <p:nvPr/>
            </p:nvSpPr>
            <p:spPr>
              <a:xfrm>
                <a:off x="660155" y="4441028"/>
                <a:ext cx="676419" cy="291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b>
                          <m:r>
                            <a:rPr kumimoji="1"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sub>
                      </m:sSub>
                    </m:oMath>
                  </m:oMathPara>
                </a14:m>
                <a:endParaRPr kumimoji="1" lang="zh-CN" altLang="en-US" sz="1200" b="1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FA4E80CA-D837-6C47-7243-6F242FD09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155" y="4441028"/>
                <a:ext cx="676419" cy="291618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612466B8-4207-9258-640D-A1A80EDFA179}"/>
                  </a:ext>
                </a:extLst>
              </p:cNvPr>
              <p:cNvSpPr txBox="1"/>
              <p:nvPr/>
            </p:nvSpPr>
            <p:spPr>
              <a:xfrm>
                <a:off x="678496" y="2617707"/>
                <a:ext cx="676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b="1" i="1" smtClean="0">
                              <a:solidFill>
                                <a:srgbClr val="0060B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 smtClean="0">
                              <a:solidFill>
                                <a:srgbClr val="0060B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b>
                          <m:r>
                            <a:rPr kumimoji="1" lang="en-US" altLang="zh-CN" sz="1200" b="1" i="1" smtClean="0">
                              <a:solidFill>
                                <a:srgbClr val="0060B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kumimoji="1" lang="zh-CN" altLang="en-US" sz="1200" b="1" dirty="0">
                  <a:solidFill>
                    <a:srgbClr val="0060B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612466B8-4207-9258-640D-A1A80EDFA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96" y="2617707"/>
                <a:ext cx="676419" cy="276999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9D715EDD-D3E7-5B9A-83D7-233701476738}"/>
                  </a:ext>
                </a:extLst>
              </p:cNvPr>
              <p:cNvSpPr txBox="1"/>
              <p:nvPr/>
            </p:nvSpPr>
            <p:spPr>
              <a:xfrm>
                <a:off x="18316" y="5105542"/>
                <a:ext cx="35260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600" b="1" dirty="0">
                    <a:solidFill>
                      <a:srgbClr val="74AB5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Inference (History </a:t>
                </a:r>
                <a14:m>
                  <m:oMath xmlns:m="http://schemas.openxmlformats.org/officeDocument/2006/math">
                    <m:r>
                      <a:rPr kumimoji="1" lang="en-US" altLang="zh-CN" sz="1600" b="1" i="1" smtClean="0">
                        <a:solidFill>
                          <a:srgbClr val="74AB5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kumimoji="1" lang="en-US" altLang="zh-CN" sz="1600" b="1" dirty="0">
                    <a:solidFill>
                      <a:srgbClr val="74AB5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Item)</a:t>
                </a:r>
                <a:endParaRPr kumimoji="1" lang="zh-CN" altLang="en-US" sz="1600" b="1" dirty="0">
                  <a:solidFill>
                    <a:srgbClr val="74AB5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9D715EDD-D3E7-5B9A-83D7-233701476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16" y="5105542"/>
                <a:ext cx="3526001" cy="338554"/>
              </a:xfrm>
              <a:prstGeom prst="rect">
                <a:avLst/>
              </a:prstGeom>
              <a:blipFill>
                <a:blip r:embed="rId35"/>
                <a:stretch>
                  <a:fillRect t="-7407" b="-2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A6DC6BEC-55E0-FCC5-49DE-52E0AEA7D6D0}"/>
                  </a:ext>
                </a:extLst>
              </p:cNvPr>
              <p:cNvSpPr txBox="1"/>
              <p:nvPr/>
            </p:nvSpPr>
            <p:spPr>
              <a:xfrm>
                <a:off x="86081" y="5528558"/>
                <a:ext cx="16608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200" dirty="0">
                    <a:solidFill>
                      <a:srgbClr val="00005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user history </a:t>
                </a:r>
                <a14:m>
                  <m:oMath xmlns:m="http://schemas.openxmlformats.org/officeDocument/2006/math">
                    <m:r>
                      <a:rPr kumimoji="1" lang="en-US" altLang="zh-CN" sz="1200" b="0" i="1" smtClean="0">
                        <a:solidFill>
                          <a:srgbClr val="00005B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endParaRPr kumimoji="1" lang="zh-CN" altLang="en-US" sz="1200" dirty="0">
                  <a:solidFill>
                    <a:srgbClr val="00005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A6DC6BEC-55E0-FCC5-49DE-52E0AEA7D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81" y="5528558"/>
                <a:ext cx="1660854" cy="276999"/>
              </a:xfrm>
              <a:prstGeom prst="rect">
                <a:avLst/>
              </a:prstGeom>
              <a:blipFill>
                <a:blip r:embed="rId36"/>
                <a:stretch>
                  <a:fillRect b="-2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9" name="矩形 178">
            <a:extLst>
              <a:ext uri="{FF2B5EF4-FFF2-40B4-BE49-F238E27FC236}">
                <a16:creationId xmlns:a16="http://schemas.microsoft.com/office/drawing/2014/main" id="{EEFC061A-C2FF-75C1-E181-234C2301F69E}"/>
              </a:ext>
            </a:extLst>
          </p:cNvPr>
          <p:cNvSpPr/>
          <p:nvPr/>
        </p:nvSpPr>
        <p:spPr>
          <a:xfrm>
            <a:off x="2112684" y="5798944"/>
            <a:ext cx="144000" cy="144000"/>
          </a:xfrm>
          <a:prstGeom prst="rect">
            <a:avLst/>
          </a:prstGeom>
          <a:solidFill>
            <a:srgbClr val="C0D2FC"/>
          </a:solidFill>
          <a:ln>
            <a:solidFill>
              <a:srgbClr val="0060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37EE56AA-B787-B08D-FC49-6CE8DD7BA46A}"/>
              </a:ext>
            </a:extLst>
          </p:cNvPr>
          <p:cNvSpPr/>
          <p:nvPr/>
        </p:nvSpPr>
        <p:spPr>
          <a:xfrm>
            <a:off x="2256684" y="5798944"/>
            <a:ext cx="144000" cy="144000"/>
          </a:xfrm>
          <a:prstGeom prst="rect">
            <a:avLst/>
          </a:prstGeom>
          <a:solidFill>
            <a:srgbClr val="C0D2FC"/>
          </a:solidFill>
          <a:ln>
            <a:solidFill>
              <a:srgbClr val="0060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05D91216-F9C3-C44D-9E11-E7984A6CD320}"/>
              </a:ext>
            </a:extLst>
          </p:cNvPr>
          <p:cNvSpPr/>
          <p:nvPr/>
        </p:nvSpPr>
        <p:spPr>
          <a:xfrm>
            <a:off x="2400684" y="5798944"/>
            <a:ext cx="144000" cy="144000"/>
          </a:xfrm>
          <a:prstGeom prst="rect">
            <a:avLst/>
          </a:prstGeom>
          <a:solidFill>
            <a:srgbClr val="C0D2FC"/>
          </a:solidFill>
          <a:ln>
            <a:solidFill>
              <a:srgbClr val="0060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388575CC-CEEA-A0F4-88E0-78C1465BF207}"/>
              </a:ext>
            </a:extLst>
          </p:cNvPr>
          <p:cNvSpPr/>
          <p:nvPr/>
        </p:nvSpPr>
        <p:spPr>
          <a:xfrm>
            <a:off x="2544684" y="5798944"/>
            <a:ext cx="144000" cy="144000"/>
          </a:xfrm>
          <a:prstGeom prst="rect">
            <a:avLst/>
          </a:prstGeom>
          <a:solidFill>
            <a:srgbClr val="C0D2FC"/>
          </a:solidFill>
          <a:ln>
            <a:solidFill>
              <a:srgbClr val="0060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83" name="直线箭头连接符 182">
            <a:extLst>
              <a:ext uri="{FF2B5EF4-FFF2-40B4-BE49-F238E27FC236}">
                <a16:creationId xmlns:a16="http://schemas.microsoft.com/office/drawing/2014/main" id="{B95E35FB-D104-B0B8-3966-A405EEFF615E}"/>
              </a:ext>
            </a:extLst>
          </p:cNvPr>
          <p:cNvCxnSpPr>
            <a:cxnSpLocks/>
          </p:cNvCxnSpPr>
          <p:nvPr/>
        </p:nvCxnSpPr>
        <p:spPr>
          <a:xfrm>
            <a:off x="1633206" y="5678931"/>
            <a:ext cx="2817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72942146-8E2F-013A-F402-C3511D0EFD80}"/>
                  </a:ext>
                </a:extLst>
              </p:cNvPr>
              <p:cNvSpPr txBox="1"/>
              <p:nvPr/>
            </p:nvSpPr>
            <p:spPr>
              <a:xfrm>
                <a:off x="1914944" y="5462855"/>
                <a:ext cx="100610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b="0" i="1" smtClean="0">
                              <a:solidFill>
                                <a:srgbClr val="0060B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rgbClr val="0060B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rgbClr val="0060B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b>
                      </m:sSub>
                      <m:r>
                        <a:rPr kumimoji="1" lang="en-US" altLang="zh-CN" sz="1200" b="0" i="1" smtClean="0">
                          <a:solidFill>
                            <a:srgbClr val="0060B5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1200" b="1" i="1" smtClean="0">
                              <a:solidFill>
                                <a:srgbClr val="0060B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 smtClean="0">
                              <a:solidFill>
                                <a:srgbClr val="0060B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b>
                          <m:r>
                            <a:rPr kumimoji="1" lang="en-US" altLang="zh-CN" sz="1200" b="1" i="1" smtClean="0">
                              <a:solidFill>
                                <a:srgbClr val="0060B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kumimoji="1" lang="zh-CN" altLang="en-US" sz="1200" b="1" dirty="0">
                  <a:solidFill>
                    <a:srgbClr val="0060B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72942146-8E2F-013A-F402-C3511D0EF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4944" y="5462855"/>
                <a:ext cx="1006108" cy="276999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A5FDE83E-905E-A0C6-C760-08E17357BF0B}"/>
              </a:ext>
            </a:extLst>
          </p:cNvPr>
          <p:cNvCxnSpPr>
            <a:cxnSpLocks/>
          </p:cNvCxnSpPr>
          <p:nvPr/>
        </p:nvCxnSpPr>
        <p:spPr>
          <a:xfrm>
            <a:off x="2780183" y="5678931"/>
            <a:ext cx="2817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椭圆 203">
            <a:extLst>
              <a:ext uri="{FF2B5EF4-FFF2-40B4-BE49-F238E27FC236}">
                <a16:creationId xmlns:a16="http://schemas.microsoft.com/office/drawing/2014/main" id="{91F5B00F-C26D-AA78-9476-BC9F48F2F058}"/>
              </a:ext>
            </a:extLst>
          </p:cNvPr>
          <p:cNvSpPr/>
          <p:nvPr/>
        </p:nvSpPr>
        <p:spPr>
          <a:xfrm>
            <a:off x="7479058" y="5563848"/>
            <a:ext cx="396000" cy="396000"/>
          </a:xfrm>
          <a:prstGeom prst="ellipse">
            <a:avLst/>
          </a:prstGeom>
          <a:solidFill>
            <a:srgbClr val="DCEAD2"/>
          </a:solidFill>
          <a:ln>
            <a:solidFill>
              <a:srgbClr val="A3C3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05" name="椭圆 204">
            <a:extLst>
              <a:ext uri="{FF2B5EF4-FFF2-40B4-BE49-F238E27FC236}">
                <a16:creationId xmlns:a16="http://schemas.microsoft.com/office/drawing/2014/main" id="{86F60DB7-BB87-7124-C0FE-653CCBD98CC0}"/>
              </a:ext>
            </a:extLst>
          </p:cNvPr>
          <p:cNvSpPr/>
          <p:nvPr/>
        </p:nvSpPr>
        <p:spPr>
          <a:xfrm>
            <a:off x="6571440" y="5585044"/>
            <a:ext cx="396000" cy="396000"/>
          </a:xfrm>
          <a:prstGeom prst="ellipse">
            <a:avLst/>
          </a:prstGeom>
          <a:solidFill>
            <a:srgbClr val="DCEAD2"/>
          </a:solidFill>
          <a:ln>
            <a:solidFill>
              <a:srgbClr val="A3C3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06" name="椭圆 205">
            <a:extLst>
              <a:ext uri="{FF2B5EF4-FFF2-40B4-BE49-F238E27FC236}">
                <a16:creationId xmlns:a16="http://schemas.microsoft.com/office/drawing/2014/main" id="{79D49B2D-294B-A4BD-BB30-030BD13A7722}"/>
              </a:ext>
            </a:extLst>
          </p:cNvPr>
          <p:cNvSpPr/>
          <p:nvPr/>
        </p:nvSpPr>
        <p:spPr>
          <a:xfrm>
            <a:off x="5419535" y="5579180"/>
            <a:ext cx="396000" cy="396000"/>
          </a:xfrm>
          <a:prstGeom prst="ellipse">
            <a:avLst/>
          </a:prstGeom>
          <a:solidFill>
            <a:srgbClr val="FEEEBF"/>
          </a:solidFill>
          <a:ln>
            <a:solidFill>
              <a:srgbClr val="D9B5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07" name="椭圆 206">
            <a:extLst>
              <a:ext uri="{FF2B5EF4-FFF2-40B4-BE49-F238E27FC236}">
                <a16:creationId xmlns:a16="http://schemas.microsoft.com/office/drawing/2014/main" id="{A1FBCAB8-B057-E7CF-02D7-1380A39395B2}"/>
              </a:ext>
            </a:extLst>
          </p:cNvPr>
          <p:cNvSpPr/>
          <p:nvPr/>
        </p:nvSpPr>
        <p:spPr>
          <a:xfrm>
            <a:off x="4195852" y="5568624"/>
            <a:ext cx="396000" cy="396000"/>
          </a:xfrm>
          <a:prstGeom prst="ellipse">
            <a:avLst/>
          </a:prstGeom>
          <a:solidFill>
            <a:srgbClr val="FFD9B2"/>
          </a:solidFill>
          <a:ln>
            <a:solidFill>
              <a:srgbClr val="B26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08" name="椭圆 207">
            <a:extLst>
              <a:ext uri="{FF2B5EF4-FFF2-40B4-BE49-F238E27FC236}">
                <a16:creationId xmlns:a16="http://schemas.microsoft.com/office/drawing/2014/main" id="{268F4FB7-9404-133C-82B5-53FAA6555647}"/>
              </a:ext>
            </a:extLst>
          </p:cNvPr>
          <p:cNvSpPr/>
          <p:nvPr/>
        </p:nvSpPr>
        <p:spPr>
          <a:xfrm>
            <a:off x="3175749" y="5572177"/>
            <a:ext cx="396000" cy="396000"/>
          </a:xfrm>
          <a:prstGeom prst="ellipse">
            <a:avLst/>
          </a:prstGeom>
          <a:solidFill>
            <a:srgbClr val="B6CDFD"/>
          </a:solidFill>
          <a:ln>
            <a:solidFill>
              <a:srgbClr val="0060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209" name="直线箭头连接符 208">
            <a:extLst>
              <a:ext uri="{FF2B5EF4-FFF2-40B4-BE49-F238E27FC236}">
                <a16:creationId xmlns:a16="http://schemas.microsoft.com/office/drawing/2014/main" id="{0DE228F4-E81A-D0F4-06B7-46F5F1FFC31F}"/>
              </a:ext>
            </a:extLst>
          </p:cNvPr>
          <p:cNvCxnSpPr>
            <a:cxnSpLocks/>
          </p:cNvCxnSpPr>
          <p:nvPr/>
        </p:nvCxnSpPr>
        <p:spPr>
          <a:xfrm>
            <a:off x="6967440" y="5783044"/>
            <a:ext cx="49008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直线箭头连接符 209">
            <a:extLst>
              <a:ext uri="{FF2B5EF4-FFF2-40B4-BE49-F238E27FC236}">
                <a16:creationId xmlns:a16="http://schemas.microsoft.com/office/drawing/2014/main" id="{84587A72-AF13-4C8D-57DD-A8CE46D1E203}"/>
              </a:ext>
            </a:extLst>
          </p:cNvPr>
          <p:cNvCxnSpPr>
            <a:cxnSpLocks/>
          </p:cNvCxnSpPr>
          <p:nvPr/>
        </p:nvCxnSpPr>
        <p:spPr>
          <a:xfrm>
            <a:off x="3638756" y="5777833"/>
            <a:ext cx="49008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5DCE0AE5-076F-35BC-7609-ADC84E7D0E74}"/>
              </a:ext>
            </a:extLst>
          </p:cNvPr>
          <p:cNvCxnSpPr>
            <a:cxnSpLocks/>
          </p:cNvCxnSpPr>
          <p:nvPr/>
        </p:nvCxnSpPr>
        <p:spPr>
          <a:xfrm>
            <a:off x="5860585" y="5784275"/>
            <a:ext cx="24504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直线箭头连接符 211">
            <a:extLst>
              <a:ext uri="{FF2B5EF4-FFF2-40B4-BE49-F238E27FC236}">
                <a16:creationId xmlns:a16="http://schemas.microsoft.com/office/drawing/2014/main" id="{8FE3983B-11C0-1D5F-8886-48E74B3D4C01}"/>
              </a:ext>
            </a:extLst>
          </p:cNvPr>
          <p:cNvCxnSpPr>
            <a:cxnSpLocks/>
          </p:cNvCxnSpPr>
          <p:nvPr/>
        </p:nvCxnSpPr>
        <p:spPr>
          <a:xfrm>
            <a:off x="6298117" y="5783044"/>
            <a:ext cx="24504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直线箭头连接符 212">
            <a:extLst>
              <a:ext uri="{FF2B5EF4-FFF2-40B4-BE49-F238E27FC236}">
                <a16:creationId xmlns:a16="http://schemas.microsoft.com/office/drawing/2014/main" id="{B6F8BC57-A370-394D-6F7C-D0F0E0EDC53A}"/>
              </a:ext>
            </a:extLst>
          </p:cNvPr>
          <p:cNvCxnSpPr>
            <a:cxnSpLocks/>
          </p:cNvCxnSpPr>
          <p:nvPr/>
        </p:nvCxnSpPr>
        <p:spPr>
          <a:xfrm>
            <a:off x="5130091" y="5776613"/>
            <a:ext cx="24504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直线箭头连接符 213">
            <a:extLst>
              <a:ext uri="{FF2B5EF4-FFF2-40B4-BE49-F238E27FC236}">
                <a16:creationId xmlns:a16="http://schemas.microsoft.com/office/drawing/2014/main" id="{E7535453-9DC5-4F64-F6CF-CD47AE73B96E}"/>
              </a:ext>
            </a:extLst>
          </p:cNvPr>
          <p:cNvCxnSpPr>
            <a:cxnSpLocks/>
          </p:cNvCxnSpPr>
          <p:nvPr/>
        </p:nvCxnSpPr>
        <p:spPr>
          <a:xfrm>
            <a:off x="4649185" y="5775382"/>
            <a:ext cx="24504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文本框 214">
            <a:extLst>
              <a:ext uri="{FF2B5EF4-FFF2-40B4-BE49-F238E27FC236}">
                <a16:creationId xmlns:a16="http://schemas.microsoft.com/office/drawing/2014/main" id="{4F6B52E1-1E16-1EF9-C3BE-F950F43D4825}"/>
              </a:ext>
            </a:extLst>
          </p:cNvPr>
          <p:cNvSpPr txBox="1"/>
          <p:nvPr/>
        </p:nvSpPr>
        <p:spPr>
          <a:xfrm>
            <a:off x="6014882" y="5558737"/>
            <a:ext cx="519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…</a:t>
            </a:r>
            <a:endParaRPr kumimoji="1" lang="zh-CN" altLang="en-US" b="1" dirty="0"/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6C3739B1-46F9-2E54-6B4E-88304E1FECF0}"/>
              </a:ext>
            </a:extLst>
          </p:cNvPr>
          <p:cNvSpPr txBox="1"/>
          <p:nvPr/>
        </p:nvSpPr>
        <p:spPr>
          <a:xfrm>
            <a:off x="4838715" y="5567126"/>
            <a:ext cx="519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…</a:t>
            </a:r>
            <a:endParaRPr kumimoji="1"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文本框 216">
                <a:extLst>
                  <a:ext uri="{FF2B5EF4-FFF2-40B4-BE49-F238E27FC236}">
                    <a16:creationId xmlns:a16="http://schemas.microsoft.com/office/drawing/2014/main" id="{6C127C46-D02C-9FD8-8AE4-80BD35CD41C0}"/>
                  </a:ext>
                </a:extLst>
              </p:cNvPr>
              <p:cNvSpPr txBox="1"/>
              <p:nvPr/>
            </p:nvSpPr>
            <p:spPr>
              <a:xfrm>
                <a:off x="6462466" y="5624553"/>
                <a:ext cx="676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7" name="文本框 216">
                <a:extLst>
                  <a:ext uri="{FF2B5EF4-FFF2-40B4-BE49-F238E27FC236}">
                    <a16:creationId xmlns:a16="http://schemas.microsoft.com/office/drawing/2014/main" id="{6C127C46-D02C-9FD8-8AE4-80BD35CD4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2466" y="5624553"/>
                <a:ext cx="676419" cy="276999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文本框 217">
                <a:extLst>
                  <a:ext uri="{FF2B5EF4-FFF2-40B4-BE49-F238E27FC236}">
                    <a16:creationId xmlns:a16="http://schemas.microsoft.com/office/drawing/2014/main" id="{332744CC-790B-3BB2-6B1E-F821C1073E70}"/>
                  </a:ext>
                </a:extLst>
              </p:cNvPr>
              <p:cNvSpPr txBox="1"/>
              <p:nvPr/>
            </p:nvSpPr>
            <p:spPr>
              <a:xfrm>
                <a:off x="4095289" y="5601206"/>
                <a:ext cx="676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𝑻</m:t>
                          </m:r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8" name="文本框 217">
                <a:extLst>
                  <a:ext uri="{FF2B5EF4-FFF2-40B4-BE49-F238E27FC236}">
                    <a16:creationId xmlns:a16="http://schemas.microsoft.com/office/drawing/2014/main" id="{332744CC-790B-3BB2-6B1E-F821C1073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289" y="5601206"/>
                <a:ext cx="676419" cy="27699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文本框 218">
                <a:extLst>
                  <a:ext uri="{FF2B5EF4-FFF2-40B4-BE49-F238E27FC236}">
                    <a16:creationId xmlns:a16="http://schemas.microsoft.com/office/drawing/2014/main" id="{39F1EBE9-BCD9-70D4-259C-53985700A916}"/>
                  </a:ext>
                </a:extLst>
              </p:cNvPr>
              <p:cNvSpPr txBox="1"/>
              <p:nvPr/>
            </p:nvSpPr>
            <p:spPr>
              <a:xfrm>
                <a:off x="7361311" y="5604571"/>
                <a:ext cx="676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9" name="文本框 218">
                <a:extLst>
                  <a:ext uri="{FF2B5EF4-FFF2-40B4-BE49-F238E27FC236}">
                    <a16:creationId xmlns:a16="http://schemas.microsoft.com/office/drawing/2014/main" id="{39F1EBE9-BCD9-70D4-259C-53985700A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11" y="5604571"/>
                <a:ext cx="676419" cy="276999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文本框 219">
                <a:extLst>
                  <a:ext uri="{FF2B5EF4-FFF2-40B4-BE49-F238E27FC236}">
                    <a16:creationId xmlns:a16="http://schemas.microsoft.com/office/drawing/2014/main" id="{5D628DD0-2CBE-FFA3-A751-7DE9816B235F}"/>
                  </a:ext>
                </a:extLst>
              </p:cNvPr>
              <p:cNvSpPr txBox="1"/>
              <p:nvPr/>
            </p:nvSpPr>
            <p:spPr>
              <a:xfrm>
                <a:off x="5307548" y="5626626"/>
                <a:ext cx="676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0" name="文本框 219">
                <a:extLst>
                  <a:ext uri="{FF2B5EF4-FFF2-40B4-BE49-F238E27FC236}">
                    <a16:creationId xmlns:a16="http://schemas.microsoft.com/office/drawing/2014/main" id="{5D628DD0-2CBE-FFA3-A751-7DE9816B2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7548" y="5626626"/>
                <a:ext cx="676419" cy="276999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文本框 220">
                <a:extLst>
                  <a:ext uri="{FF2B5EF4-FFF2-40B4-BE49-F238E27FC236}">
                    <a16:creationId xmlns:a16="http://schemas.microsoft.com/office/drawing/2014/main" id="{7BEA7609-5DAD-70C9-D00A-3E3141189F61}"/>
                  </a:ext>
                </a:extLst>
              </p:cNvPr>
              <p:cNvSpPr txBox="1"/>
              <p:nvPr/>
            </p:nvSpPr>
            <p:spPr>
              <a:xfrm>
                <a:off x="3076034" y="5619007"/>
                <a:ext cx="676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1" name="文本框 220">
                <a:extLst>
                  <a:ext uri="{FF2B5EF4-FFF2-40B4-BE49-F238E27FC236}">
                    <a16:creationId xmlns:a16="http://schemas.microsoft.com/office/drawing/2014/main" id="{7BEA7609-5DAD-70C9-D00A-3E3141189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034" y="5619007"/>
                <a:ext cx="676419" cy="276999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2" name="文本框 221">
            <a:extLst>
              <a:ext uri="{FF2B5EF4-FFF2-40B4-BE49-F238E27FC236}">
                <a16:creationId xmlns:a16="http://schemas.microsoft.com/office/drawing/2014/main" id="{57B15A9E-450D-B04B-AC80-1875D86C0212}"/>
              </a:ext>
            </a:extLst>
          </p:cNvPr>
          <p:cNvSpPr txBox="1"/>
          <p:nvPr/>
        </p:nvSpPr>
        <p:spPr>
          <a:xfrm>
            <a:off x="4600336" y="5217842"/>
            <a:ext cx="22078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Iteratively denoising for T steps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3" name="直线箭头连接符 222">
            <a:extLst>
              <a:ext uri="{FF2B5EF4-FFF2-40B4-BE49-F238E27FC236}">
                <a16:creationId xmlns:a16="http://schemas.microsoft.com/office/drawing/2014/main" id="{D3D5BF2E-2FE2-60AF-D793-E63F93346BB1}"/>
              </a:ext>
            </a:extLst>
          </p:cNvPr>
          <p:cNvCxnSpPr>
            <a:cxnSpLocks/>
          </p:cNvCxnSpPr>
          <p:nvPr/>
        </p:nvCxnSpPr>
        <p:spPr>
          <a:xfrm>
            <a:off x="7948164" y="5619219"/>
            <a:ext cx="2817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矩形 223">
            <a:extLst>
              <a:ext uri="{FF2B5EF4-FFF2-40B4-BE49-F238E27FC236}">
                <a16:creationId xmlns:a16="http://schemas.microsoft.com/office/drawing/2014/main" id="{75F8F361-2BF1-9F1A-13D7-1EB3101D37C5}"/>
              </a:ext>
            </a:extLst>
          </p:cNvPr>
          <p:cNvSpPr/>
          <p:nvPr/>
        </p:nvSpPr>
        <p:spPr>
          <a:xfrm>
            <a:off x="8387916" y="5624723"/>
            <a:ext cx="144000" cy="144000"/>
          </a:xfrm>
          <a:prstGeom prst="rect">
            <a:avLst/>
          </a:prstGeom>
          <a:solidFill>
            <a:srgbClr val="C9E1B8"/>
          </a:solidFill>
          <a:ln>
            <a:solidFill>
              <a:srgbClr val="74A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1ABC1BAE-4E2A-C0C6-8E1B-0754EC0A06EC}"/>
              </a:ext>
            </a:extLst>
          </p:cNvPr>
          <p:cNvSpPr/>
          <p:nvPr/>
        </p:nvSpPr>
        <p:spPr>
          <a:xfrm>
            <a:off x="8531916" y="5624723"/>
            <a:ext cx="144000" cy="144000"/>
          </a:xfrm>
          <a:prstGeom prst="rect">
            <a:avLst/>
          </a:prstGeom>
          <a:solidFill>
            <a:srgbClr val="C9E1B8"/>
          </a:solidFill>
          <a:ln>
            <a:solidFill>
              <a:srgbClr val="74A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CC986A15-19EE-2B24-6918-E3B8A732FA9D}"/>
              </a:ext>
            </a:extLst>
          </p:cNvPr>
          <p:cNvSpPr/>
          <p:nvPr/>
        </p:nvSpPr>
        <p:spPr>
          <a:xfrm>
            <a:off x="8675916" y="5624723"/>
            <a:ext cx="144000" cy="144000"/>
          </a:xfrm>
          <a:prstGeom prst="rect">
            <a:avLst/>
          </a:prstGeom>
          <a:solidFill>
            <a:srgbClr val="C9E1B8"/>
          </a:solidFill>
          <a:ln>
            <a:solidFill>
              <a:srgbClr val="74A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61B1E5E9-567B-5766-B861-792174D250DC}"/>
              </a:ext>
            </a:extLst>
          </p:cNvPr>
          <p:cNvSpPr/>
          <p:nvPr/>
        </p:nvSpPr>
        <p:spPr>
          <a:xfrm>
            <a:off x="8819916" y="5624723"/>
            <a:ext cx="144000" cy="144000"/>
          </a:xfrm>
          <a:prstGeom prst="rect">
            <a:avLst/>
          </a:prstGeom>
          <a:solidFill>
            <a:srgbClr val="C9E1B8"/>
          </a:solidFill>
          <a:ln>
            <a:solidFill>
              <a:srgbClr val="74A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本框 227">
                <a:extLst>
                  <a:ext uri="{FF2B5EF4-FFF2-40B4-BE49-F238E27FC236}">
                    <a16:creationId xmlns:a16="http://schemas.microsoft.com/office/drawing/2014/main" id="{662E4B47-8DEE-8F1E-7B20-96DC0E03A7D1}"/>
                  </a:ext>
                </a:extLst>
              </p:cNvPr>
              <p:cNvSpPr txBox="1"/>
              <p:nvPr/>
            </p:nvSpPr>
            <p:spPr>
              <a:xfrm>
                <a:off x="8369558" y="5327572"/>
                <a:ext cx="676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CN" sz="12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12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8" name="文本框 227">
                <a:extLst>
                  <a:ext uri="{FF2B5EF4-FFF2-40B4-BE49-F238E27FC236}">
                    <a16:creationId xmlns:a16="http://schemas.microsoft.com/office/drawing/2014/main" id="{662E4B47-8DEE-8F1E-7B20-96DC0E03A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9558" y="5327572"/>
                <a:ext cx="676419" cy="276999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0" name="直线箭头连接符 229">
            <a:extLst>
              <a:ext uri="{FF2B5EF4-FFF2-40B4-BE49-F238E27FC236}">
                <a16:creationId xmlns:a16="http://schemas.microsoft.com/office/drawing/2014/main" id="{94F76235-0A61-0E87-68AF-D39201F27852}"/>
              </a:ext>
            </a:extLst>
          </p:cNvPr>
          <p:cNvCxnSpPr>
            <a:cxnSpLocks/>
          </p:cNvCxnSpPr>
          <p:nvPr/>
        </p:nvCxnSpPr>
        <p:spPr>
          <a:xfrm>
            <a:off x="9115632" y="5619000"/>
            <a:ext cx="125807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文本框 230">
            <a:extLst>
              <a:ext uri="{FF2B5EF4-FFF2-40B4-BE49-F238E27FC236}">
                <a16:creationId xmlns:a16="http://schemas.microsoft.com/office/drawing/2014/main" id="{A2F557C3-AD31-01FA-AA66-D18487E44CB6}"/>
              </a:ext>
            </a:extLst>
          </p:cNvPr>
          <p:cNvSpPr txBox="1"/>
          <p:nvPr/>
        </p:nvSpPr>
        <p:spPr>
          <a:xfrm>
            <a:off x="8688453" y="5290561"/>
            <a:ext cx="22078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 Top-K Items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4" name="图片 233">
            <a:extLst>
              <a:ext uri="{FF2B5EF4-FFF2-40B4-BE49-F238E27FC236}">
                <a16:creationId xmlns:a16="http://schemas.microsoft.com/office/drawing/2014/main" id="{CD5E0BB1-6487-2600-6F95-19B1A30E96EB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543602" y="5293362"/>
            <a:ext cx="674815" cy="674815"/>
          </a:xfrm>
          <a:prstGeom prst="rect">
            <a:avLst/>
          </a:prstGeom>
        </p:spPr>
      </p:pic>
      <p:sp>
        <p:nvSpPr>
          <p:cNvPr id="235" name="文本框 234">
            <a:extLst>
              <a:ext uri="{FF2B5EF4-FFF2-40B4-BE49-F238E27FC236}">
                <a16:creationId xmlns:a16="http://schemas.microsoft.com/office/drawing/2014/main" id="{F2B46999-FB29-3163-8942-D3F1B4097E60}"/>
              </a:ext>
            </a:extLst>
          </p:cNvPr>
          <p:cNvSpPr txBox="1"/>
          <p:nvPr/>
        </p:nvSpPr>
        <p:spPr>
          <a:xfrm>
            <a:off x="10839663" y="5388640"/>
            <a:ext cx="1387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b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6" name="文本框 235">
            <a:extLst>
              <a:ext uri="{FF2B5EF4-FFF2-40B4-BE49-F238E27FC236}">
                <a16:creationId xmlns:a16="http://schemas.microsoft.com/office/drawing/2014/main" id="{40FB938A-5275-20FB-BAE7-E8E0EEDF01E1}"/>
              </a:ext>
            </a:extLst>
          </p:cNvPr>
          <p:cNvSpPr txBox="1"/>
          <p:nvPr/>
        </p:nvSpPr>
        <p:spPr>
          <a:xfrm>
            <a:off x="8155465" y="5789569"/>
            <a:ext cx="10193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C824A16D-4D0D-844D-EF14-F596FF975522}"/>
              </a:ext>
            </a:extLst>
          </p:cNvPr>
          <p:cNvSpPr/>
          <p:nvPr/>
        </p:nvSpPr>
        <p:spPr>
          <a:xfrm>
            <a:off x="259780" y="6429880"/>
            <a:ext cx="144000" cy="144000"/>
          </a:xfrm>
          <a:prstGeom prst="rect">
            <a:avLst/>
          </a:prstGeom>
          <a:solidFill>
            <a:srgbClr val="C0D2FC"/>
          </a:solidFill>
          <a:ln>
            <a:solidFill>
              <a:srgbClr val="0060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16A6E381-9F29-138C-114E-A2E9AC1DD617}"/>
              </a:ext>
            </a:extLst>
          </p:cNvPr>
          <p:cNvSpPr/>
          <p:nvPr/>
        </p:nvSpPr>
        <p:spPr>
          <a:xfrm>
            <a:off x="403780" y="6429880"/>
            <a:ext cx="144000" cy="144000"/>
          </a:xfrm>
          <a:prstGeom prst="rect">
            <a:avLst/>
          </a:prstGeom>
          <a:solidFill>
            <a:srgbClr val="C0D2FC"/>
          </a:solidFill>
          <a:ln>
            <a:solidFill>
              <a:srgbClr val="0060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71CD33AD-F2C3-87D1-1F41-3E1129D5AE71}"/>
              </a:ext>
            </a:extLst>
          </p:cNvPr>
          <p:cNvSpPr/>
          <p:nvPr/>
        </p:nvSpPr>
        <p:spPr>
          <a:xfrm>
            <a:off x="547780" y="6429880"/>
            <a:ext cx="144000" cy="144000"/>
          </a:xfrm>
          <a:prstGeom prst="rect">
            <a:avLst/>
          </a:prstGeom>
          <a:solidFill>
            <a:srgbClr val="C0D2FC"/>
          </a:solidFill>
          <a:ln>
            <a:solidFill>
              <a:srgbClr val="0060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D89B06D2-B5FE-27FE-9B65-BCFD1089458D}"/>
              </a:ext>
            </a:extLst>
          </p:cNvPr>
          <p:cNvSpPr/>
          <p:nvPr/>
        </p:nvSpPr>
        <p:spPr>
          <a:xfrm>
            <a:off x="691780" y="6429880"/>
            <a:ext cx="144000" cy="144000"/>
          </a:xfrm>
          <a:prstGeom prst="rect">
            <a:avLst/>
          </a:prstGeom>
          <a:solidFill>
            <a:srgbClr val="C0D2FC"/>
          </a:solidFill>
          <a:ln>
            <a:solidFill>
              <a:srgbClr val="0060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1" name="文本框 240">
            <a:extLst>
              <a:ext uri="{FF2B5EF4-FFF2-40B4-BE49-F238E27FC236}">
                <a16:creationId xmlns:a16="http://schemas.microsoft.com/office/drawing/2014/main" id="{63053FDA-9669-192D-662E-D8C0ACB98C40}"/>
              </a:ext>
            </a:extLst>
          </p:cNvPr>
          <p:cNvSpPr txBox="1"/>
          <p:nvPr/>
        </p:nvSpPr>
        <p:spPr>
          <a:xfrm>
            <a:off x="812853" y="6367433"/>
            <a:ext cx="16141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 Representation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FA21398A-32BB-04AC-C9BC-EB385FA424E9}"/>
              </a:ext>
            </a:extLst>
          </p:cNvPr>
          <p:cNvSpPr/>
          <p:nvPr/>
        </p:nvSpPr>
        <p:spPr>
          <a:xfrm>
            <a:off x="2548117" y="6432067"/>
            <a:ext cx="144000" cy="144000"/>
          </a:xfrm>
          <a:prstGeom prst="rect">
            <a:avLst/>
          </a:prstGeom>
          <a:solidFill>
            <a:srgbClr val="C9E1B8"/>
          </a:solidFill>
          <a:ln>
            <a:solidFill>
              <a:srgbClr val="74A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80A8A7AA-E3DC-379F-9F3D-D8E738DD9558}"/>
              </a:ext>
            </a:extLst>
          </p:cNvPr>
          <p:cNvSpPr/>
          <p:nvPr/>
        </p:nvSpPr>
        <p:spPr>
          <a:xfrm>
            <a:off x="2692117" y="6432067"/>
            <a:ext cx="144000" cy="144000"/>
          </a:xfrm>
          <a:prstGeom prst="rect">
            <a:avLst/>
          </a:prstGeom>
          <a:solidFill>
            <a:srgbClr val="C9E1B8"/>
          </a:solidFill>
          <a:ln>
            <a:solidFill>
              <a:srgbClr val="74A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CD44CC56-0FD8-9AEB-4E74-34D7E352D38E}"/>
              </a:ext>
            </a:extLst>
          </p:cNvPr>
          <p:cNvSpPr/>
          <p:nvPr/>
        </p:nvSpPr>
        <p:spPr>
          <a:xfrm>
            <a:off x="2836117" y="6432067"/>
            <a:ext cx="144000" cy="144000"/>
          </a:xfrm>
          <a:prstGeom prst="rect">
            <a:avLst/>
          </a:prstGeom>
          <a:solidFill>
            <a:srgbClr val="C9E1B8"/>
          </a:solidFill>
          <a:ln>
            <a:solidFill>
              <a:srgbClr val="74A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CEBDC0E1-6B51-8071-F15C-3FB084AAC472}"/>
              </a:ext>
            </a:extLst>
          </p:cNvPr>
          <p:cNvSpPr/>
          <p:nvPr/>
        </p:nvSpPr>
        <p:spPr>
          <a:xfrm>
            <a:off x="2980117" y="6432067"/>
            <a:ext cx="144000" cy="144000"/>
          </a:xfrm>
          <a:prstGeom prst="rect">
            <a:avLst/>
          </a:prstGeom>
          <a:solidFill>
            <a:srgbClr val="C9E1B8"/>
          </a:solidFill>
          <a:ln>
            <a:solidFill>
              <a:srgbClr val="74A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B7F91CE3-346F-BB0D-C84A-8677AA155995}"/>
              </a:ext>
            </a:extLst>
          </p:cNvPr>
          <p:cNvSpPr txBox="1"/>
          <p:nvPr/>
        </p:nvSpPr>
        <p:spPr>
          <a:xfrm>
            <a:off x="3041436" y="6363380"/>
            <a:ext cx="16141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 Representation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52C7E235-25A9-3D31-9F77-1F3E9E2E784D}"/>
              </a:ext>
            </a:extLst>
          </p:cNvPr>
          <p:cNvSpPr/>
          <p:nvPr/>
        </p:nvSpPr>
        <p:spPr>
          <a:xfrm>
            <a:off x="4658017" y="6421056"/>
            <a:ext cx="144000" cy="144000"/>
          </a:xfrm>
          <a:prstGeom prst="rect">
            <a:avLst/>
          </a:prstGeom>
          <a:solidFill>
            <a:srgbClr val="FFEDC3"/>
          </a:solidFill>
          <a:ln>
            <a:solidFill>
              <a:srgbClr val="DAB1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F5078515-3AAB-2FA6-34D3-2AF72F2DEB86}"/>
              </a:ext>
            </a:extLst>
          </p:cNvPr>
          <p:cNvSpPr/>
          <p:nvPr/>
        </p:nvSpPr>
        <p:spPr>
          <a:xfrm>
            <a:off x="4802017" y="6421056"/>
            <a:ext cx="144000" cy="144000"/>
          </a:xfrm>
          <a:prstGeom prst="rect">
            <a:avLst/>
          </a:prstGeom>
          <a:solidFill>
            <a:srgbClr val="FFEDC3"/>
          </a:solidFill>
          <a:ln>
            <a:solidFill>
              <a:srgbClr val="DAB1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id="{21A9ACB7-CBE2-37C9-553C-BDA4E05ED8E6}"/>
              </a:ext>
            </a:extLst>
          </p:cNvPr>
          <p:cNvSpPr/>
          <p:nvPr/>
        </p:nvSpPr>
        <p:spPr>
          <a:xfrm>
            <a:off x="4946017" y="6421056"/>
            <a:ext cx="144000" cy="144000"/>
          </a:xfrm>
          <a:prstGeom prst="rect">
            <a:avLst/>
          </a:prstGeom>
          <a:solidFill>
            <a:srgbClr val="FFEDC3"/>
          </a:solidFill>
          <a:ln>
            <a:solidFill>
              <a:srgbClr val="DAB1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B69D71E8-60A1-9CFF-06FB-91283BDE1CE1}"/>
              </a:ext>
            </a:extLst>
          </p:cNvPr>
          <p:cNvSpPr/>
          <p:nvPr/>
        </p:nvSpPr>
        <p:spPr>
          <a:xfrm>
            <a:off x="5090017" y="6421056"/>
            <a:ext cx="144000" cy="144000"/>
          </a:xfrm>
          <a:prstGeom prst="rect">
            <a:avLst/>
          </a:prstGeom>
          <a:solidFill>
            <a:srgbClr val="FFEDC3"/>
          </a:solidFill>
          <a:ln>
            <a:solidFill>
              <a:srgbClr val="DAB1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1" name="文本框 250">
            <a:extLst>
              <a:ext uri="{FF2B5EF4-FFF2-40B4-BE49-F238E27FC236}">
                <a16:creationId xmlns:a16="http://schemas.microsoft.com/office/drawing/2014/main" id="{6840E5E5-AB3B-9D3A-88F9-4A3E87DC1C88}"/>
              </a:ext>
            </a:extLst>
          </p:cNvPr>
          <p:cNvSpPr txBox="1"/>
          <p:nvPr/>
        </p:nvSpPr>
        <p:spPr>
          <a:xfrm>
            <a:off x="4897159" y="6342559"/>
            <a:ext cx="16141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Noisy State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2" name="文本框 251">
            <a:extLst>
              <a:ext uri="{FF2B5EF4-FFF2-40B4-BE49-F238E27FC236}">
                <a16:creationId xmlns:a16="http://schemas.microsoft.com/office/drawing/2014/main" id="{5B7FCB88-BCA0-1DC6-9CA3-B2D7DEB2AFB7}"/>
              </a:ext>
            </a:extLst>
          </p:cNvPr>
          <p:cNvSpPr txBox="1"/>
          <p:nvPr/>
        </p:nvSpPr>
        <p:spPr>
          <a:xfrm>
            <a:off x="3200019" y="3743900"/>
            <a:ext cx="5199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kumimoji="1" lang="zh-CN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20E566D6-2C49-3FA7-7672-576771FB6E51}"/>
              </a:ext>
            </a:extLst>
          </p:cNvPr>
          <p:cNvSpPr/>
          <p:nvPr/>
        </p:nvSpPr>
        <p:spPr>
          <a:xfrm>
            <a:off x="6206209" y="6420621"/>
            <a:ext cx="144000" cy="144000"/>
          </a:xfrm>
          <a:prstGeom prst="rect">
            <a:avLst/>
          </a:prstGeom>
          <a:solidFill>
            <a:srgbClr val="AE92C0"/>
          </a:solidFill>
          <a:ln>
            <a:solidFill>
              <a:srgbClr val="8B6A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4" name="矩形 253">
            <a:extLst>
              <a:ext uri="{FF2B5EF4-FFF2-40B4-BE49-F238E27FC236}">
                <a16:creationId xmlns:a16="http://schemas.microsoft.com/office/drawing/2014/main" id="{158732E2-EA2B-7A4F-D246-E1B63531E75D}"/>
              </a:ext>
            </a:extLst>
          </p:cNvPr>
          <p:cNvSpPr/>
          <p:nvPr/>
        </p:nvSpPr>
        <p:spPr>
          <a:xfrm>
            <a:off x="6350209" y="6420621"/>
            <a:ext cx="144000" cy="144000"/>
          </a:xfrm>
          <a:prstGeom prst="rect">
            <a:avLst/>
          </a:prstGeom>
          <a:solidFill>
            <a:srgbClr val="AE92C0"/>
          </a:solidFill>
          <a:ln>
            <a:solidFill>
              <a:srgbClr val="8B6A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5" name="矩形 254">
            <a:extLst>
              <a:ext uri="{FF2B5EF4-FFF2-40B4-BE49-F238E27FC236}">
                <a16:creationId xmlns:a16="http://schemas.microsoft.com/office/drawing/2014/main" id="{DD9A3C63-ED55-F643-2458-508448E9EBF6}"/>
              </a:ext>
            </a:extLst>
          </p:cNvPr>
          <p:cNvSpPr/>
          <p:nvPr/>
        </p:nvSpPr>
        <p:spPr>
          <a:xfrm>
            <a:off x="6494209" y="6420621"/>
            <a:ext cx="144000" cy="144000"/>
          </a:xfrm>
          <a:prstGeom prst="rect">
            <a:avLst/>
          </a:prstGeom>
          <a:solidFill>
            <a:srgbClr val="AE92C0"/>
          </a:solidFill>
          <a:ln>
            <a:solidFill>
              <a:srgbClr val="8B6A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61EAE347-DF1C-AE2F-74F4-769DA570546A}"/>
              </a:ext>
            </a:extLst>
          </p:cNvPr>
          <p:cNvSpPr/>
          <p:nvPr/>
        </p:nvSpPr>
        <p:spPr>
          <a:xfrm>
            <a:off x="6638209" y="6420621"/>
            <a:ext cx="144000" cy="144000"/>
          </a:xfrm>
          <a:prstGeom prst="rect">
            <a:avLst/>
          </a:prstGeom>
          <a:solidFill>
            <a:srgbClr val="AE92C0"/>
          </a:solidFill>
          <a:ln>
            <a:solidFill>
              <a:srgbClr val="8B6A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7" name="文本框 256">
            <a:extLst>
              <a:ext uri="{FF2B5EF4-FFF2-40B4-BE49-F238E27FC236}">
                <a16:creationId xmlns:a16="http://schemas.microsoft.com/office/drawing/2014/main" id="{F3A114D9-D5CA-7F86-2659-CB0AD7EDA7C1}"/>
              </a:ext>
            </a:extLst>
          </p:cNvPr>
          <p:cNvSpPr txBox="1"/>
          <p:nvPr/>
        </p:nvSpPr>
        <p:spPr>
          <a:xfrm>
            <a:off x="6725530" y="6337368"/>
            <a:ext cx="16141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Timestep Embedding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8" name="文本框 257">
            <a:extLst>
              <a:ext uri="{FF2B5EF4-FFF2-40B4-BE49-F238E27FC236}">
                <a16:creationId xmlns:a16="http://schemas.microsoft.com/office/drawing/2014/main" id="{D1EAB0CD-6A5E-07B8-E6F8-139DCBED577B}"/>
              </a:ext>
            </a:extLst>
          </p:cNvPr>
          <p:cNvSpPr txBox="1"/>
          <p:nvPr/>
        </p:nvSpPr>
        <p:spPr>
          <a:xfrm rot="10800000">
            <a:off x="4687897" y="3830631"/>
            <a:ext cx="5199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kumimoji="1" lang="zh-CN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9" name="图片 258">
            <a:extLst>
              <a:ext uri="{FF2B5EF4-FFF2-40B4-BE49-F238E27FC236}">
                <a16:creationId xmlns:a16="http://schemas.microsoft.com/office/drawing/2014/main" id="{85084DDD-072F-0A4E-F235-BB474061EB8B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362454" y="6315374"/>
            <a:ext cx="355878" cy="355878"/>
          </a:xfrm>
          <a:prstGeom prst="rect">
            <a:avLst/>
          </a:prstGeom>
        </p:spPr>
      </p:pic>
      <p:sp>
        <p:nvSpPr>
          <p:cNvPr id="260" name="文本框 259">
            <a:extLst>
              <a:ext uri="{FF2B5EF4-FFF2-40B4-BE49-F238E27FC236}">
                <a16:creationId xmlns:a16="http://schemas.microsoft.com/office/drawing/2014/main" id="{1AF39CFE-809D-9BCE-B4DF-1855E3969FA2}"/>
              </a:ext>
            </a:extLst>
          </p:cNvPr>
          <p:cNvSpPr txBox="1"/>
          <p:nvPr/>
        </p:nvSpPr>
        <p:spPr>
          <a:xfrm>
            <a:off x="8665124" y="6346690"/>
            <a:ext cx="16141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 Embedding Table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1" name="图片 260">
            <a:extLst>
              <a:ext uri="{FF2B5EF4-FFF2-40B4-BE49-F238E27FC236}">
                <a16:creationId xmlns:a16="http://schemas.microsoft.com/office/drawing/2014/main" id="{60DD6D95-82CB-134B-49B0-984FF64B9974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341565" y="6304805"/>
            <a:ext cx="360767" cy="360767"/>
          </a:xfrm>
          <a:prstGeom prst="rect">
            <a:avLst/>
          </a:prstGeom>
        </p:spPr>
      </p:pic>
      <p:sp>
        <p:nvSpPr>
          <p:cNvPr id="262" name="文本框 261">
            <a:extLst>
              <a:ext uri="{FF2B5EF4-FFF2-40B4-BE49-F238E27FC236}">
                <a16:creationId xmlns:a16="http://schemas.microsoft.com/office/drawing/2014/main" id="{D73AA9F2-1C75-AD13-9090-99067C4E0B24}"/>
              </a:ext>
            </a:extLst>
          </p:cNvPr>
          <p:cNvSpPr txBox="1"/>
          <p:nvPr/>
        </p:nvSpPr>
        <p:spPr>
          <a:xfrm>
            <a:off x="10547435" y="6261788"/>
            <a:ext cx="1614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Encoder</a:t>
            </a:r>
          </a:p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Denoiser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" name="圆角矩形 262">
            <a:extLst>
              <a:ext uri="{FF2B5EF4-FFF2-40B4-BE49-F238E27FC236}">
                <a16:creationId xmlns:a16="http://schemas.microsoft.com/office/drawing/2014/main" id="{2E903B30-80EF-15AE-FDB5-1E51AAAFD664}"/>
              </a:ext>
            </a:extLst>
          </p:cNvPr>
          <p:cNvSpPr/>
          <p:nvPr/>
        </p:nvSpPr>
        <p:spPr>
          <a:xfrm>
            <a:off x="8811847" y="534445"/>
            <a:ext cx="3114288" cy="2127166"/>
          </a:xfrm>
          <a:prstGeom prst="roundRect">
            <a:avLst>
              <a:gd name="adj" fmla="val 2739"/>
            </a:avLst>
          </a:prstGeom>
          <a:solidFill>
            <a:srgbClr val="FEFAEE"/>
          </a:solidFill>
          <a:ln>
            <a:solidFill>
              <a:srgbClr val="E9C9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4" name="圆角矩形 263">
            <a:extLst>
              <a:ext uri="{FF2B5EF4-FFF2-40B4-BE49-F238E27FC236}">
                <a16:creationId xmlns:a16="http://schemas.microsoft.com/office/drawing/2014/main" id="{496693A6-AE7F-E3E8-8167-8EB1F635F057}"/>
              </a:ext>
            </a:extLst>
          </p:cNvPr>
          <p:cNvSpPr/>
          <p:nvPr/>
        </p:nvSpPr>
        <p:spPr>
          <a:xfrm>
            <a:off x="8819916" y="2739961"/>
            <a:ext cx="3114288" cy="2124813"/>
          </a:xfrm>
          <a:prstGeom prst="roundRect">
            <a:avLst>
              <a:gd name="adj" fmla="val 2739"/>
            </a:avLst>
          </a:prstGeom>
          <a:solidFill>
            <a:srgbClr val="FEFAEE"/>
          </a:solidFill>
          <a:ln>
            <a:solidFill>
              <a:srgbClr val="E9C9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6" name="文本框 265">
            <a:extLst>
              <a:ext uri="{FF2B5EF4-FFF2-40B4-BE49-F238E27FC236}">
                <a16:creationId xmlns:a16="http://schemas.microsoft.com/office/drawing/2014/main" id="{2DED5687-1AED-3FFF-3F7A-0B52C92EB704}"/>
              </a:ext>
            </a:extLst>
          </p:cNvPr>
          <p:cNvSpPr txBox="1"/>
          <p:nvPr/>
        </p:nvSpPr>
        <p:spPr>
          <a:xfrm>
            <a:off x="8726431" y="545160"/>
            <a:ext cx="3310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rgbClr val="9961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1: Sparse Embedding Pretraining</a:t>
            </a:r>
            <a:endParaRPr kumimoji="1" lang="zh-CN" altLang="en-US" sz="1200" b="1" dirty="0">
              <a:solidFill>
                <a:srgbClr val="9961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7" name="文本框 266">
            <a:extLst>
              <a:ext uri="{FF2B5EF4-FFF2-40B4-BE49-F238E27FC236}">
                <a16:creationId xmlns:a16="http://schemas.microsoft.com/office/drawing/2014/main" id="{838D1454-6537-F1A0-FF35-300F6EB2279C}"/>
              </a:ext>
            </a:extLst>
          </p:cNvPr>
          <p:cNvSpPr txBox="1"/>
          <p:nvPr/>
        </p:nvSpPr>
        <p:spPr>
          <a:xfrm>
            <a:off x="8747298" y="2753912"/>
            <a:ext cx="3310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rgbClr val="9961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2: Preference-Centric Diffusion Training</a:t>
            </a:r>
            <a:endParaRPr kumimoji="1" lang="zh-CN" altLang="en-US" sz="1200" b="1" dirty="0">
              <a:solidFill>
                <a:srgbClr val="9961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8" name="圆角矩形 267">
            <a:extLst>
              <a:ext uri="{FF2B5EF4-FFF2-40B4-BE49-F238E27FC236}">
                <a16:creationId xmlns:a16="http://schemas.microsoft.com/office/drawing/2014/main" id="{A1C70969-623C-FE00-1B9E-5845C0D60459}"/>
              </a:ext>
            </a:extLst>
          </p:cNvPr>
          <p:cNvSpPr/>
          <p:nvPr/>
        </p:nvSpPr>
        <p:spPr>
          <a:xfrm>
            <a:off x="8963916" y="980312"/>
            <a:ext cx="981653" cy="528527"/>
          </a:xfrm>
          <a:prstGeom prst="roundRect">
            <a:avLst>
              <a:gd name="adj" fmla="val 6670"/>
            </a:avLst>
          </a:prstGeom>
          <a:solidFill>
            <a:srgbClr val="E5EDF8"/>
          </a:solidFill>
          <a:ln>
            <a:solidFill>
              <a:srgbClr val="4672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69" name="图片 268">
            <a:extLst>
              <a:ext uri="{FF2B5EF4-FFF2-40B4-BE49-F238E27FC236}">
                <a16:creationId xmlns:a16="http://schemas.microsoft.com/office/drawing/2014/main" id="{35D39227-671C-529C-0A7E-3B5B43F7A6E8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0086429" y="885620"/>
            <a:ext cx="695345" cy="695345"/>
          </a:xfrm>
          <a:prstGeom prst="rect">
            <a:avLst/>
          </a:prstGeom>
        </p:spPr>
      </p:pic>
      <p:sp>
        <p:nvSpPr>
          <p:cNvPr id="270" name="文本框 269">
            <a:extLst>
              <a:ext uri="{FF2B5EF4-FFF2-40B4-BE49-F238E27FC236}">
                <a16:creationId xmlns:a16="http://schemas.microsoft.com/office/drawing/2014/main" id="{6902884C-C9EC-AEE8-FACC-7A435B0619F9}"/>
              </a:ext>
            </a:extLst>
          </p:cNvPr>
          <p:cNvSpPr txBox="1"/>
          <p:nvPr/>
        </p:nvSpPr>
        <p:spPr>
          <a:xfrm>
            <a:off x="9026544" y="1016661"/>
            <a:ext cx="844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Encoder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1" name="文本框 270">
            <a:extLst>
              <a:ext uri="{FF2B5EF4-FFF2-40B4-BE49-F238E27FC236}">
                <a16:creationId xmlns:a16="http://schemas.microsoft.com/office/drawing/2014/main" id="{4F213945-41A8-1842-3138-6274C5FCB052}"/>
              </a:ext>
            </a:extLst>
          </p:cNvPr>
          <p:cNvSpPr txBox="1"/>
          <p:nvPr/>
        </p:nvSpPr>
        <p:spPr>
          <a:xfrm>
            <a:off x="10702332" y="1016660"/>
            <a:ext cx="1255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 Embedding Table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2" name="右中括号 271">
            <a:extLst>
              <a:ext uri="{FF2B5EF4-FFF2-40B4-BE49-F238E27FC236}">
                <a16:creationId xmlns:a16="http://schemas.microsoft.com/office/drawing/2014/main" id="{3976DCE3-1011-60B1-9988-7BEB4A05ACBE}"/>
              </a:ext>
            </a:extLst>
          </p:cNvPr>
          <p:cNvSpPr/>
          <p:nvPr/>
        </p:nvSpPr>
        <p:spPr>
          <a:xfrm rot="5400000">
            <a:off x="10198764" y="662452"/>
            <a:ext cx="93296" cy="1946009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74" name="直线箭头连接符 273">
            <a:extLst>
              <a:ext uri="{FF2B5EF4-FFF2-40B4-BE49-F238E27FC236}">
                <a16:creationId xmlns:a16="http://schemas.microsoft.com/office/drawing/2014/main" id="{C6E7832C-C1AF-DB21-D41D-1D11F47C674E}"/>
              </a:ext>
            </a:extLst>
          </p:cNvPr>
          <p:cNvCxnSpPr>
            <a:stCxn id="272" idx="2"/>
          </p:cNvCxnSpPr>
          <p:nvPr/>
        </p:nvCxnSpPr>
        <p:spPr>
          <a:xfrm>
            <a:off x="10245412" y="1682105"/>
            <a:ext cx="0" cy="3266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文本框 274">
            <a:extLst>
              <a:ext uri="{FF2B5EF4-FFF2-40B4-BE49-F238E27FC236}">
                <a16:creationId xmlns:a16="http://schemas.microsoft.com/office/drawing/2014/main" id="{B2EFF55E-5B53-D7C9-3625-9BAEE5763A30}"/>
              </a:ext>
            </a:extLst>
          </p:cNvPr>
          <p:cNvSpPr txBox="1"/>
          <p:nvPr/>
        </p:nvSpPr>
        <p:spPr>
          <a:xfrm>
            <a:off x="9174784" y="2392902"/>
            <a:ext cx="22815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 discriminative embeddings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7" name="圆角矩形 276">
            <a:extLst>
              <a:ext uri="{FF2B5EF4-FFF2-40B4-BE49-F238E27FC236}">
                <a16:creationId xmlns:a16="http://schemas.microsoft.com/office/drawing/2014/main" id="{D2A571FF-E4C9-8D9A-C757-9C54838DC6BE}"/>
              </a:ext>
            </a:extLst>
          </p:cNvPr>
          <p:cNvSpPr/>
          <p:nvPr/>
        </p:nvSpPr>
        <p:spPr>
          <a:xfrm>
            <a:off x="9333465" y="2051900"/>
            <a:ext cx="1923512" cy="295732"/>
          </a:xfrm>
          <a:prstGeom prst="roundRect">
            <a:avLst>
              <a:gd name="adj" fmla="val 6670"/>
            </a:avLst>
          </a:prstGeom>
          <a:solidFill>
            <a:srgbClr val="FEF5DC"/>
          </a:solidFill>
          <a:ln>
            <a:solidFill>
              <a:srgbClr val="E4D0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6" name="文本框 275">
            <a:extLst>
              <a:ext uri="{FF2B5EF4-FFF2-40B4-BE49-F238E27FC236}">
                <a16:creationId xmlns:a16="http://schemas.microsoft.com/office/drawing/2014/main" id="{36A53730-FAEE-1102-95B3-5E924BE0D3B7}"/>
              </a:ext>
            </a:extLst>
          </p:cNvPr>
          <p:cNvSpPr txBox="1"/>
          <p:nvPr/>
        </p:nvSpPr>
        <p:spPr>
          <a:xfrm>
            <a:off x="9152685" y="2056215"/>
            <a:ext cx="22815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Loss (CE) 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8" name="文本框 277">
            <a:extLst>
              <a:ext uri="{FF2B5EF4-FFF2-40B4-BE49-F238E27FC236}">
                <a16:creationId xmlns:a16="http://schemas.microsoft.com/office/drawing/2014/main" id="{C4B056BF-8219-5EC4-F5E2-D6E1DE8B8888}"/>
              </a:ext>
            </a:extLst>
          </p:cNvPr>
          <p:cNvSpPr txBox="1"/>
          <p:nvPr/>
        </p:nvSpPr>
        <p:spPr>
          <a:xfrm>
            <a:off x="8891916" y="3091468"/>
            <a:ext cx="2679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Staget-1 embeddings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Jointly optimize all components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0" name="圆角矩形 279">
            <a:extLst>
              <a:ext uri="{FF2B5EF4-FFF2-40B4-BE49-F238E27FC236}">
                <a16:creationId xmlns:a16="http://schemas.microsoft.com/office/drawing/2014/main" id="{8DAD119E-C85F-87E6-19D2-F8D0DAE1F629}"/>
              </a:ext>
            </a:extLst>
          </p:cNvPr>
          <p:cNvSpPr/>
          <p:nvPr/>
        </p:nvSpPr>
        <p:spPr>
          <a:xfrm>
            <a:off x="8989029" y="3573980"/>
            <a:ext cx="697018" cy="450456"/>
          </a:xfrm>
          <a:prstGeom prst="roundRect">
            <a:avLst>
              <a:gd name="adj" fmla="val 6670"/>
            </a:avLst>
          </a:prstGeom>
          <a:solidFill>
            <a:srgbClr val="E5EDF8"/>
          </a:solidFill>
          <a:ln>
            <a:solidFill>
              <a:srgbClr val="4672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9" name="文本框 278">
            <a:extLst>
              <a:ext uri="{FF2B5EF4-FFF2-40B4-BE49-F238E27FC236}">
                <a16:creationId xmlns:a16="http://schemas.microsoft.com/office/drawing/2014/main" id="{16C8DAFA-2C7A-87E3-4C58-B3EFCBF1C34E}"/>
              </a:ext>
            </a:extLst>
          </p:cNvPr>
          <p:cNvSpPr txBox="1"/>
          <p:nvPr/>
        </p:nvSpPr>
        <p:spPr>
          <a:xfrm>
            <a:off x="8919149" y="3595316"/>
            <a:ext cx="844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Encoder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1" name="圆角矩形 280">
            <a:extLst>
              <a:ext uri="{FF2B5EF4-FFF2-40B4-BE49-F238E27FC236}">
                <a16:creationId xmlns:a16="http://schemas.microsoft.com/office/drawing/2014/main" id="{66255E3E-0467-9C20-5D20-993D4A34EDE8}"/>
              </a:ext>
            </a:extLst>
          </p:cNvPr>
          <p:cNvSpPr/>
          <p:nvPr/>
        </p:nvSpPr>
        <p:spPr>
          <a:xfrm>
            <a:off x="10033681" y="3573980"/>
            <a:ext cx="670619" cy="461666"/>
          </a:xfrm>
          <a:prstGeom prst="roundRect">
            <a:avLst>
              <a:gd name="adj" fmla="val 6670"/>
            </a:avLst>
          </a:prstGeom>
          <a:solidFill>
            <a:srgbClr val="E7DEEF"/>
          </a:solidFill>
          <a:ln>
            <a:solidFill>
              <a:srgbClr val="C2AC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282" name="图片 281">
            <a:extLst>
              <a:ext uri="{FF2B5EF4-FFF2-40B4-BE49-F238E27FC236}">
                <a16:creationId xmlns:a16="http://schemas.microsoft.com/office/drawing/2014/main" id="{E56B8EE4-17E2-F62B-7A4A-3D4CFAEF104C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1009447" y="3471147"/>
            <a:ext cx="729813" cy="643575"/>
          </a:xfrm>
          <a:prstGeom prst="rect">
            <a:avLst/>
          </a:prstGeom>
        </p:spPr>
      </p:pic>
      <p:sp>
        <p:nvSpPr>
          <p:cNvPr id="283" name="文本框 282">
            <a:extLst>
              <a:ext uri="{FF2B5EF4-FFF2-40B4-BE49-F238E27FC236}">
                <a16:creationId xmlns:a16="http://schemas.microsoft.com/office/drawing/2014/main" id="{21086523-33D9-4D64-A843-F9C47447B088}"/>
              </a:ext>
            </a:extLst>
          </p:cNvPr>
          <p:cNvSpPr txBox="1"/>
          <p:nvPr/>
        </p:nvSpPr>
        <p:spPr>
          <a:xfrm>
            <a:off x="9951517" y="3663867"/>
            <a:ext cx="8440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Denoiser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5" name="直线箭头连接符 284">
            <a:extLst>
              <a:ext uri="{FF2B5EF4-FFF2-40B4-BE49-F238E27FC236}">
                <a16:creationId xmlns:a16="http://schemas.microsoft.com/office/drawing/2014/main" id="{11241397-E209-68FC-CC22-E3B93BB5C11C}"/>
              </a:ext>
            </a:extLst>
          </p:cNvPr>
          <p:cNvCxnSpPr>
            <a:cxnSpLocks/>
          </p:cNvCxnSpPr>
          <p:nvPr/>
        </p:nvCxnSpPr>
        <p:spPr>
          <a:xfrm flipV="1">
            <a:off x="9714570" y="3827676"/>
            <a:ext cx="27802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直线箭头连接符 286">
            <a:extLst>
              <a:ext uri="{FF2B5EF4-FFF2-40B4-BE49-F238E27FC236}">
                <a16:creationId xmlns:a16="http://schemas.microsoft.com/office/drawing/2014/main" id="{3A55FB2F-8B50-7FD4-2A14-4E9BB7A38981}"/>
              </a:ext>
            </a:extLst>
          </p:cNvPr>
          <p:cNvCxnSpPr>
            <a:cxnSpLocks/>
          </p:cNvCxnSpPr>
          <p:nvPr/>
        </p:nvCxnSpPr>
        <p:spPr>
          <a:xfrm flipV="1">
            <a:off x="10731418" y="3825138"/>
            <a:ext cx="27802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圆角矩形 287">
            <a:extLst>
              <a:ext uri="{FF2B5EF4-FFF2-40B4-BE49-F238E27FC236}">
                <a16:creationId xmlns:a16="http://schemas.microsoft.com/office/drawing/2014/main" id="{0257C8F2-B01F-375B-72E3-F61B5DC1D693}"/>
              </a:ext>
            </a:extLst>
          </p:cNvPr>
          <p:cNvSpPr/>
          <p:nvPr/>
        </p:nvSpPr>
        <p:spPr>
          <a:xfrm>
            <a:off x="9293169" y="4319545"/>
            <a:ext cx="1923512" cy="307904"/>
          </a:xfrm>
          <a:prstGeom prst="roundRect">
            <a:avLst>
              <a:gd name="adj" fmla="val 6670"/>
            </a:avLst>
          </a:prstGeom>
          <a:solidFill>
            <a:srgbClr val="FEF5DC"/>
          </a:solidFill>
          <a:ln>
            <a:solidFill>
              <a:srgbClr val="E4D0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89" name="文本框 288">
            <a:extLst>
              <a:ext uri="{FF2B5EF4-FFF2-40B4-BE49-F238E27FC236}">
                <a16:creationId xmlns:a16="http://schemas.microsoft.com/office/drawing/2014/main" id="{18BB197E-1C82-2E9E-230C-99311EAA6CC1}"/>
              </a:ext>
            </a:extLst>
          </p:cNvPr>
          <p:cNvSpPr txBox="1"/>
          <p:nvPr/>
        </p:nvSpPr>
        <p:spPr>
          <a:xfrm>
            <a:off x="8839677" y="4608642"/>
            <a:ext cx="295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 both diffusion &amp; recommendation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" name="右中括号 289">
            <a:extLst>
              <a:ext uri="{FF2B5EF4-FFF2-40B4-BE49-F238E27FC236}">
                <a16:creationId xmlns:a16="http://schemas.microsoft.com/office/drawing/2014/main" id="{4518F747-FD76-9DBC-4BD3-70574DB0BD51}"/>
              </a:ext>
            </a:extLst>
          </p:cNvPr>
          <p:cNvSpPr/>
          <p:nvPr/>
        </p:nvSpPr>
        <p:spPr>
          <a:xfrm rot="5400000">
            <a:off x="10268893" y="3121261"/>
            <a:ext cx="93296" cy="1946009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1" name="文本框 290">
            <a:extLst>
              <a:ext uri="{FF2B5EF4-FFF2-40B4-BE49-F238E27FC236}">
                <a16:creationId xmlns:a16="http://schemas.microsoft.com/office/drawing/2014/main" id="{B00E1B9B-D4D8-5AE9-9EF4-DBCD070B591D}"/>
              </a:ext>
            </a:extLst>
          </p:cNvPr>
          <p:cNvSpPr txBox="1"/>
          <p:nvPr/>
        </p:nvSpPr>
        <p:spPr>
          <a:xfrm>
            <a:off x="9234232" y="4337061"/>
            <a:ext cx="2118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000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Combined Loss (CE &amp; MSE) </a:t>
            </a:r>
            <a:endParaRPr kumimoji="1" lang="zh-CN" altLang="en-US" sz="1200" dirty="0">
              <a:solidFill>
                <a:srgbClr val="0000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2" name="直线箭头连接符 291">
            <a:extLst>
              <a:ext uri="{FF2B5EF4-FFF2-40B4-BE49-F238E27FC236}">
                <a16:creationId xmlns:a16="http://schemas.microsoft.com/office/drawing/2014/main" id="{593043D2-EDA4-8D52-EC05-1A020FCCEB89}"/>
              </a:ext>
            </a:extLst>
          </p:cNvPr>
          <p:cNvCxnSpPr>
            <a:cxnSpLocks/>
            <a:endCxn id="291" idx="0"/>
          </p:cNvCxnSpPr>
          <p:nvPr/>
        </p:nvCxnSpPr>
        <p:spPr>
          <a:xfrm>
            <a:off x="10293443" y="4148757"/>
            <a:ext cx="0" cy="1883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912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232</Words>
  <Application>Microsoft Macintosh PowerPoint</Application>
  <PresentationFormat>宽屏</PresentationFormat>
  <Paragraphs>91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白移梦</dc:creator>
  <cp:lastModifiedBy>白移梦</cp:lastModifiedBy>
  <cp:revision>11</cp:revision>
  <dcterms:created xsi:type="dcterms:W3CDTF">2026-05-07T13:58:19Z</dcterms:created>
  <dcterms:modified xsi:type="dcterms:W3CDTF">2026-05-10T16:39:06Z</dcterms:modified>
</cp:coreProperties>
</file>